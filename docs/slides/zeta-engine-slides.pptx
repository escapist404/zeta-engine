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4000" r:id="rId2"/>
    <p:sldMasterId id="2147484500" r:id="rId3"/>
  </p:sldMasterIdLst>
  <p:notesMasterIdLst>
    <p:notesMasterId r:id="rId14"/>
  </p:notesMasterIdLst>
  <p:sldIdLst>
    <p:sldId id="256" r:id="rId4"/>
    <p:sldId id="257" r:id="rId5"/>
    <p:sldId id="258" r:id="rId6"/>
    <p:sldId id="300" r:id="rId7"/>
    <p:sldId id="301" r:id="rId8"/>
    <p:sldId id="302" r:id="rId9"/>
    <p:sldId id="303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A853"/>
    <a:srgbClr val="1F87FD"/>
    <a:srgbClr val="EA4335"/>
    <a:srgbClr val="FBBC05"/>
    <a:srgbClr val="F2FFA5"/>
    <a:srgbClr val="0432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2"/>
    <p:restoredTop sz="94624"/>
  </p:normalViewPr>
  <p:slideViewPr>
    <p:cSldViewPr snapToGrid="0">
      <p:cViewPr varScale="1">
        <p:scale>
          <a:sx n="111" d="100"/>
          <a:sy n="111" d="100"/>
        </p:scale>
        <p:origin x="560" y="200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MRR@20</c:v>
          </c:tx>
          <c:spPr>
            <a:solidFill>
              <a:srgbClr val="2588FF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566-2245-8079-16D9EBFF7988}"/>
              </c:ext>
            </c:extLst>
          </c:dPt>
          <c:dPt>
            <c:idx val="1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03-F566-2245-8079-16D9EBFF798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100" b="1">
                    <a:solidFill>
                      <a:srgbClr val="161616"/>
                    </a:solidFill>
                    <a:latin typeface="Google Sans" pitchFamily="2" charset="0"/>
                    <a:ea typeface="Google Sans" pitchFamily="2" charset="0"/>
                    <a:cs typeface="Google Sans" pitchFamily="2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BM25F</c:v>
                </c:pt>
                <c:pt idx="1">
                  <c:v>Hybrid α=0.38</c:v>
                </c:pt>
              </c:strCache>
            </c:strRef>
          </c:cat>
          <c:val>
            <c:numRef>
              <c:f>'Chart Data'!$B$2:$B$3</c:f>
              <c:numCache>
                <c:formatCode>0.0000</c:formatCode>
                <c:ptCount val="2"/>
                <c:pt idx="0">
                  <c:v>0.442</c:v>
                </c:pt>
                <c:pt idx="1">
                  <c:v>0.47260000000000002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F566-2245-8079-16D9EBFF798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AEBAC3"/>
            </a:solidFill>
          </a:ln>
        </c:spPr>
        <c:txPr>
          <a:bodyPr anchorCtr="1"/>
          <a:lstStyle/>
          <a:p>
            <a:pPr>
              <a:defRPr sz="1800">
                <a:solidFill>
                  <a:srgbClr val="161616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55000000000000004"/>
          <c:min val="0"/>
        </c:scaling>
        <c:delete val="0"/>
        <c:axPos val="l"/>
        <c:majorGridlines>
          <c:spPr>
            <a:ln w="9525">
              <a:solidFill>
                <a:srgbClr val="E6EAED"/>
              </a:solidFill>
            </a:ln>
          </c:spPr>
        </c:majorGridlines>
        <c:numFmt formatCode="0.0000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425">
                <a:solidFill>
                  <a:srgbClr val="66717A"/>
                </a:solidFill>
                <a:latin typeface="PingFang SC"/>
                <a:ea typeface="PingFang SC"/>
                <a:cs typeface="PingFang SC"/>
              </a:defRPr>
            </a:pPr>
            <a:endParaRPr lang="zh-CN"/>
          </a:p>
        </c:txPr>
        <c:crossAx val="48650112"/>
        <c:crosses val="autoZero"/>
        <c:crossBetween val="between"/>
        <c:majorUnit val="0.1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9A6BE3-ABE8-E941-A757-DD90984099A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7F3F45-49CA-2F4B-87EB-5A118CE03AF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5199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7F3F45-49CA-2F4B-87EB-5A118CE03AFC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632368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7F3F45-49CA-2F4B-87EB-5A118CE03AFC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55934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docs/report/main.tex, section 2.4. Formula SVGs are generated from the seven architecture equations. Native text labels describe the symbols; full definitions remain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docs/report/main.tex, section 2.4. Formula SVGs are generated from the seven architecture equations. Native text labels describe the symbols; full definitions remain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docs/report/main.tex, section 2.4. Formula SVGs are generated from the seven architecture equations. Native text labels describe the symbols; full definitions remain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docs/report/main.tex, section 2.4. Formula SVGs are generated from the seven architecture equations. Native text labels describe the symbols; full definitions remain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Illustrative records, not actual summer camp data. Sources: retrieval/acquisition.py and rag/calculations.py. Search finds relevant passages. Collection recovers the complete source table. Calculate counts the records after checking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docs/report/main.tex, retrieval comparison. 72 high-confidence queries. BM25F MRR@20: 0.4420; Hybrid alpha=0.38: 0.4726. Top-1 hits: 25 and 26. Recall@20: 0.7361 for both. Relative gain: 6.923%. Historical evaluation; no rerun for this presentation. These metrics do not measure RAG answer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 of the actual index.html frontend. The Chinese query asks how students with financial difficulties can apply for aid. No query was submitted. The screenshot does not represent a completed answer. See README for crawling, indexing, model downloads and API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B778EA-BD88-A038-2C28-05837FCED9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66DF31D-3D83-98AA-4E00-319251DB6E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6DDB7C-940A-99EA-18BB-670D1A570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FF18-C909-734D-9977-DF834F07950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A66A4C-925C-207E-953D-D1BA5112E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328CB9-F53E-FB72-91E0-BD41220FC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F445F-A35B-364B-BAE1-3EDFA6BAFD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0449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0D74C3-810A-A0C7-F17F-26A6465DF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94CD8A-8EB1-6894-AB1F-D09811F39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10FE67-031B-399F-589C-B18DF4512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FF18-C909-734D-9977-DF834F07950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DC5F22-9100-5A1F-BCC0-6FD7018D7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CF0319-71DB-BDA6-DE6B-6AB7A1C6B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F445F-A35B-364B-BAE1-3EDFA6BAFD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18009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4EAFC6-7933-2304-F95C-70A1B7B70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AC2CAC-B5C5-5F63-ECAE-AD09248B9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75A6FE-326E-BEB9-B592-3A9C09F70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FF18-C909-734D-9977-DF834F07950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1FE263-704B-9053-0A04-F160D0FAF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0E03B6-A8A3-DD7E-6752-B71F27688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F445F-A35B-364B-BAE1-3EDFA6BAFD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39373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5A71D6-E026-94CB-AF76-7E8617282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970CA9-69BA-7DB9-C190-13A5E9BFD4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DA06F75-283E-7D8C-CBD8-A04485D6D2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4292B0-036D-41E9-A056-A3F89C9F9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FF18-C909-734D-9977-DF834F07950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B4802A-09E3-86C1-9F82-0AF2B83C1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7B5448-2289-933C-F8C9-A12658C1D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F445F-A35B-364B-BAE1-3EDFA6BAFD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91219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AD876B-12AE-EAC4-F610-50D9BB593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45B898-E2D3-F92B-4207-928EB74BC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F84074-67CC-62B5-A7C6-984E87EDB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FBA78F7-03FF-0BC4-54CC-D0E99A7485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BDCF8E4-78D3-37EA-8522-C54764103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85300BB-5419-053C-919E-3CA98AE64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FF18-C909-734D-9977-DF834F07950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6FE26E0-E6BB-B55F-788E-398BC5754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9FAA580-93A2-26A8-EC97-1D67438AF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F445F-A35B-364B-BAE1-3EDFA6BAFD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04494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ED7B87-40E2-6D8A-A2F3-5C512DC67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AA36101-5BAE-7480-A357-D6EC91DCC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FF18-C909-734D-9977-DF834F07950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65F194C-63F9-D0EB-1F32-0D9764CD7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52B8284-8B3F-A373-1FFB-2D19532D8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F445F-A35B-364B-BAE1-3EDFA6BAFD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85459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06C5FF5-369B-C9B2-8AD3-C8A65FE84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FF18-C909-734D-9977-DF834F07950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A48F858-3308-C7DB-A17D-16290D43B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772B68-EACA-3DDE-D626-F05FC608F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F445F-A35B-364B-BAE1-3EDFA6BAFD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5499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593D5D-12EC-C50A-853C-83BD9DA50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2E0DA1-4FE9-B0D8-C42F-3BFD468B1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7B194E-8E1E-496F-E687-02B749FFF6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EA6DDC-7FE7-670A-22E3-5E69B9805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FF18-C909-734D-9977-DF834F07950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95EDB0-08A7-636E-BE44-48660E204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2ECF54-A8B7-482B-7135-4E44DC0A1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F445F-A35B-364B-BAE1-3EDFA6BAFD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9564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35FF97-2BB0-E9E7-12B6-D432E0B0D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461CBE7-44EC-97C3-88AC-E499D39E92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6EF75E-E322-41F5-5915-74F9D9624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456F4B-902B-75D5-3AAB-A93DAB504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FF18-C909-734D-9977-DF834F07950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0C371A-1F60-012D-0E55-37EA86308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42A815-4DC6-DD3D-D37C-8D36C15E5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F445F-A35B-364B-BAE1-3EDFA6BAFD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0937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8745E8-5216-FD8F-896D-8C5AD4C53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8F766F4-E586-D309-CAB2-7C28EE3F1B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AFE336-09B9-699B-D0D9-9C4797E30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FF18-C909-734D-9977-DF834F07950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635FC8-304A-2D94-43CF-176418388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14C95F-CA44-86F7-09B4-97F2A4DB3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F445F-A35B-364B-BAE1-3EDFA6BAFD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4531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28C2CA8-3065-82F4-DE4E-63D062CC92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F8A0681-4740-0AB8-F2F2-7D5FDEC16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3C6103-9587-C22C-8775-549D68BDC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FF18-C909-734D-9977-DF834F07950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ECF1C9-B3F2-FDDC-73A1-385754705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78AA93-5736-5680-016F-13D9EA164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F445F-A35B-364B-BAE1-3EDFA6BAFD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8313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C34CCDF-ECD5-63A7-1633-50721DF3A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011729-1ACF-EB0B-01BA-3B0FFD61D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DDB9EE-5C68-E678-03AA-D2B7EE25EB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D1FF18-C909-734D-9977-DF834F07950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051A3E-FE74-972C-C3FA-86633CA6A3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2A43D5-E972-8059-CA89-589817AB1A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0F445F-A35B-364B-BAE1-3EDFA6BAFD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1176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00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50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ai.ruc.edu.cn/xxx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sai.ruc.edu.cn/xxx.html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66A00F-FEFC-0BA3-5C80-609AD9C1AD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zeta</a:t>
            </a:r>
            <a:r>
              <a:rPr kumimoji="1" lang="en-US" altLang="zh-CN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-engine</a:t>
            </a:r>
            <a:endParaRPr kumimoji="1" lang="zh-CN" altLang="en-US" dirty="0">
              <a:latin typeface="Google Sans" pitchFamily="2" charset="0"/>
              <a:cs typeface="Google Sans" pitchFamily="2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972879F-8E73-8904-B01C-4CD2137E96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dirty="0">
                <a:latin typeface="Google Sans" pitchFamily="2" charset="0"/>
                <a:cs typeface="Google Sans" pitchFamily="2" charset="0"/>
              </a:rPr>
              <a:t>面向中国人民大学站点的搜索引擎与</a:t>
            </a:r>
            <a:r>
              <a:rPr kumimoji="1" lang="en-US" altLang="zh-CN" dirty="0">
                <a:latin typeface="Google Sans" pitchFamily="2" charset="0"/>
                <a:cs typeface="Google Sans" pitchFamily="2" charset="0"/>
              </a:rPr>
              <a:t> RAG</a:t>
            </a:r>
            <a:r>
              <a:rPr kumimoji="1" lang="zh-CN" altLang="en-US" dirty="0">
                <a:latin typeface="Google Sans" pitchFamily="2" charset="0"/>
                <a:cs typeface="Google Sans" pitchFamily="2" charset="0"/>
              </a:rPr>
              <a:t> 增强检索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5C82BB2-6E06-036C-1933-82B7C1D62BD2}"/>
              </a:ext>
            </a:extLst>
          </p:cNvPr>
          <p:cNvSpPr txBox="1"/>
          <p:nvPr/>
        </p:nvSpPr>
        <p:spPr>
          <a:xfrm>
            <a:off x="3323863" y="4245253"/>
            <a:ext cx="5544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en-US" dirty="0" err="1"/>
              <a:t>高瓴人工智能学院</a:t>
            </a:r>
            <a:r>
              <a:rPr kumimoji="1" lang="zh-CN" altLang="en-US" b="1" dirty="0"/>
              <a:t>  </a:t>
            </a:r>
            <a:r>
              <a:rPr kumimoji="1" lang="en-US" altLang="en-US" dirty="0"/>
              <a:t>熊洋铭</a:t>
            </a:r>
          </a:p>
        </p:txBody>
      </p:sp>
    </p:spTree>
    <p:extLst>
      <p:ext uri="{BB962C8B-B14F-4D97-AF65-F5344CB8AC3E}">
        <p14:creationId xmlns:p14="http://schemas.microsoft.com/office/powerpoint/2010/main" val="3382438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D1B6BAB3-B7BF-840C-80AE-4A1DE41B5C1A}"/>
              </a:ext>
            </a:extLst>
          </p:cNvPr>
          <p:cNvGrpSpPr/>
          <p:nvPr/>
        </p:nvGrpSpPr>
        <p:grpSpPr>
          <a:xfrm>
            <a:off x="106675" y="1201850"/>
            <a:ext cx="11978650" cy="4530460"/>
            <a:chOff x="413018" y="1305156"/>
            <a:chExt cx="11365963" cy="4298735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615C5D1-D304-C500-1A01-43697ED288FA}"/>
                </a:ext>
              </a:extLst>
            </p:cNvPr>
            <p:cNvSpPr/>
            <p:nvPr/>
          </p:nvSpPr>
          <p:spPr>
            <a:xfrm>
              <a:off x="413018" y="3015379"/>
              <a:ext cx="2077559" cy="886001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b="1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15 domains</a:t>
              </a:r>
            </a:p>
            <a:p>
              <a:pPr algn="ctr"/>
              <a:r>
                <a:rPr kumimoji="1" lang="en-US" altLang="zh-CN" sz="1600" b="1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~14,000 pages</a:t>
              </a:r>
              <a:endParaRPr kumimoji="1" lang="zh-CN" altLang="en-US" sz="1600" b="1" dirty="0">
                <a:latin typeface="Google Sans" pitchFamily="2" charset="0"/>
                <a:cs typeface="Google Sans" pitchFamily="2" charset="0"/>
              </a:endParaRPr>
            </a:p>
          </p:txBody>
        </p:sp>
        <p:cxnSp>
          <p:nvCxnSpPr>
            <p:cNvPr id="16" name="直线箭头连接符 15">
              <a:extLst>
                <a:ext uri="{FF2B5EF4-FFF2-40B4-BE49-F238E27FC236}">
                  <a16:creationId xmlns:a16="http://schemas.microsoft.com/office/drawing/2014/main" id="{C721501A-F3FA-AFE2-7432-433F41542F85}"/>
                </a:ext>
              </a:extLst>
            </p:cNvPr>
            <p:cNvCxnSpPr>
              <a:cxnSpLocks/>
              <a:stCxn id="13" idx="3"/>
              <a:endCxn id="14" idx="1"/>
            </p:cNvCxnSpPr>
            <p:nvPr/>
          </p:nvCxnSpPr>
          <p:spPr>
            <a:xfrm>
              <a:off x="2490577" y="3458379"/>
              <a:ext cx="4614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9B9572E3-6E1D-E77F-B46B-39FB37897591}"/>
                </a:ext>
              </a:extLst>
            </p:cNvPr>
            <p:cNvGrpSpPr/>
            <p:nvPr/>
          </p:nvGrpSpPr>
          <p:grpSpPr>
            <a:xfrm>
              <a:off x="2952034" y="2646017"/>
              <a:ext cx="2961289" cy="1624726"/>
              <a:chOff x="4132383" y="2109658"/>
              <a:chExt cx="3056207" cy="1676803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95C75A77-A2A9-30E8-4CE2-669F0D4E0156}"/>
                  </a:ext>
                </a:extLst>
              </p:cNvPr>
              <p:cNvSpPr/>
              <p:nvPr/>
            </p:nvSpPr>
            <p:spPr>
              <a:xfrm>
                <a:off x="4132383" y="2109658"/>
                <a:ext cx="3056207" cy="167680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 dirty="0">
                  <a:latin typeface="Google Sans" pitchFamily="2" charset="0"/>
                  <a:cs typeface="Google Sans" pitchFamily="2" charset="0"/>
                </a:endParaRPr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1EC43AC1-BD85-17A5-2D27-4D20412DDD58}"/>
                  </a:ext>
                </a:extLst>
              </p:cNvPr>
              <p:cNvSpPr txBox="1"/>
              <p:nvPr/>
            </p:nvSpPr>
            <p:spPr>
              <a:xfrm>
                <a:off x="4197153" y="2209396"/>
                <a:ext cx="2926668" cy="15371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600" dirty="0">
                    <a:latin typeface="Google Sans" pitchFamily="2" charset="0"/>
                    <a:ea typeface="Google Sans" pitchFamily="2" charset="0"/>
                    <a:cs typeface="Google Sans" pitchFamily="2" charset="0"/>
                  </a:rPr>
                  <a:t>term posting indexing</a:t>
                </a:r>
              </a:p>
              <a:p>
                <a:pPr algn="ctr"/>
                <a:r>
                  <a:rPr kumimoji="1" lang="en-US" altLang="zh-CN" sz="1600" b="1" dirty="0">
                    <a:latin typeface="Google Sans" pitchFamily="2" charset="0"/>
                    <a:ea typeface="Google Sans" pitchFamily="2" charset="0"/>
                    <a:cs typeface="Google Sans" pitchFamily="2" charset="0"/>
                  </a:rPr>
                  <a:t>(sparse index)</a:t>
                </a:r>
              </a:p>
              <a:p>
                <a:pPr algn="ctr"/>
                <a:endParaRPr kumimoji="1" lang="en-US" altLang="zh-CN" sz="1600" b="1" dirty="0">
                  <a:latin typeface="Google Sans" pitchFamily="2" charset="0"/>
                  <a:ea typeface="Google Sans" pitchFamily="2" charset="0"/>
                  <a:cs typeface="Google Sans" pitchFamily="2" charset="0"/>
                </a:endParaRPr>
              </a:p>
              <a:p>
                <a:pPr algn="ctr"/>
                <a:endParaRPr kumimoji="1" lang="en-US" altLang="zh-CN" sz="1600" b="1" dirty="0">
                  <a:latin typeface="Google Sans" pitchFamily="2" charset="0"/>
                  <a:ea typeface="Google Sans" pitchFamily="2" charset="0"/>
                  <a:cs typeface="Google Sans" pitchFamily="2" charset="0"/>
                </a:endParaRPr>
              </a:p>
              <a:p>
                <a:pPr algn="ctr"/>
                <a:r>
                  <a:rPr kumimoji="1" lang="en-US" altLang="zh-CN" sz="1600" dirty="0">
                    <a:latin typeface="Google Sans" pitchFamily="2" charset="0"/>
                    <a:ea typeface="Google Sans" pitchFamily="2" charset="0"/>
                    <a:cs typeface="Google Sans" pitchFamily="2" charset="0"/>
                  </a:rPr>
                  <a:t>passage semantic indexing</a:t>
                </a:r>
              </a:p>
              <a:p>
                <a:pPr algn="ctr"/>
                <a:r>
                  <a:rPr kumimoji="1" lang="en-US" altLang="zh-CN" sz="1600" b="1" dirty="0">
                    <a:latin typeface="Google Sans" pitchFamily="2" charset="0"/>
                    <a:ea typeface="Google Sans" pitchFamily="2" charset="0"/>
                    <a:cs typeface="Google Sans" pitchFamily="2" charset="0"/>
                  </a:rPr>
                  <a:t>(dense index)</a:t>
                </a:r>
              </a:p>
            </p:txBody>
          </p:sp>
        </p:grp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0DF5429-F2B1-ED85-7131-04829C4FE244}"/>
                </a:ext>
              </a:extLst>
            </p:cNvPr>
            <p:cNvSpPr/>
            <p:nvPr/>
          </p:nvSpPr>
          <p:spPr>
            <a:xfrm>
              <a:off x="3377523" y="1584070"/>
              <a:ext cx="2110303" cy="57325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BM25-field</a:t>
              </a:r>
              <a:endParaRPr kumimoji="1" lang="zh-CN" altLang="en-US" sz="1600" dirty="0">
                <a:latin typeface="Google Sans" pitchFamily="2" charset="0"/>
                <a:cs typeface="Google Sans" pitchFamily="2" charset="0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ED4A69CD-CD39-0244-E76C-826E4A1D9C68}"/>
                </a:ext>
              </a:extLst>
            </p:cNvPr>
            <p:cNvSpPr/>
            <p:nvPr/>
          </p:nvSpPr>
          <p:spPr>
            <a:xfrm>
              <a:off x="3374222" y="4759437"/>
              <a:ext cx="2113604" cy="57325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dense cosine sim</a:t>
              </a:r>
              <a:endParaRPr kumimoji="1" lang="zh-CN" altLang="en-US" sz="1600" dirty="0">
                <a:latin typeface="Google Sans" pitchFamily="2" charset="0"/>
                <a:cs typeface="Google Sans" pitchFamily="2" charset="0"/>
              </a:endParaRPr>
            </a:p>
          </p:txBody>
        </p:sp>
        <p:cxnSp>
          <p:nvCxnSpPr>
            <p:cNvPr id="31" name="直线箭头连接符 30">
              <a:extLst>
                <a:ext uri="{FF2B5EF4-FFF2-40B4-BE49-F238E27FC236}">
                  <a16:creationId xmlns:a16="http://schemas.microsoft.com/office/drawing/2014/main" id="{54A0CC29-9E8D-7AE4-D83C-D7D80ACB5A66}"/>
                </a:ext>
              </a:extLst>
            </p:cNvPr>
            <p:cNvCxnSpPr>
              <a:cxnSpLocks/>
              <a:stCxn id="14" idx="0"/>
              <a:endCxn id="28" idx="2"/>
            </p:cNvCxnSpPr>
            <p:nvPr/>
          </p:nvCxnSpPr>
          <p:spPr>
            <a:xfrm flipH="1" flipV="1">
              <a:off x="4432675" y="2157320"/>
              <a:ext cx="4" cy="48869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线箭头连接符 32">
              <a:extLst>
                <a:ext uri="{FF2B5EF4-FFF2-40B4-BE49-F238E27FC236}">
                  <a16:creationId xmlns:a16="http://schemas.microsoft.com/office/drawing/2014/main" id="{899C15F7-D92C-7ACE-00E8-AF874400355A}"/>
                </a:ext>
              </a:extLst>
            </p:cNvPr>
            <p:cNvCxnSpPr>
              <a:cxnSpLocks/>
              <a:stCxn id="14" idx="2"/>
              <a:endCxn id="29" idx="0"/>
            </p:cNvCxnSpPr>
            <p:nvPr/>
          </p:nvCxnSpPr>
          <p:spPr>
            <a:xfrm flipH="1">
              <a:off x="4431025" y="4270742"/>
              <a:ext cx="1654" cy="48869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D9589148-2406-5CA6-3B8D-34F41B6D8DC3}"/>
                </a:ext>
              </a:extLst>
            </p:cNvPr>
            <p:cNvSpPr txBox="1"/>
            <p:nvPr/>
          </p:nvSpPr>
          <p:spPr>
            <a:xfrm>
              <a:off x="1583559" y="1691764"/>
              <a:ext cx="14312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zh-CN" sz="1600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query terms</a:t>
              </a:r>
              <a:endParaRPr kumimoji="1" lang="zh-CN" altLang="en-US" sz="1600" dirty="0">
                <a:latin typeface="Google Sans" pitchFamily="2" charset="0"/>
                <a:cs typeface="Google Sans" pitchFamily="2" charset="0"/>
              </a:endParaRPr>
            </a:p>
          </p:txBody>
        </p:sp>
        <p:cxnSp>
          <p:nvCxnSpPr>
            <p:cNvPr id="36" name="直线箭头连接符 35">
              <a:extLst>
                <a:ext uri="{FF2B5EF4-FFF2-40B4-BE49-F238E27FC236}">
                  <a16:creationId xmlns:a16="http://schemas.microsoft.com/office/drawing/2014/main" id="{C77232D2-18F6-2417-8F9B-A7F0CB0E9380}"/>
                </a:ext>
              </a:extLst>
            </p:cNvPr>
            <p:cNvCxnSpPr>
              <a:cxnSpLocks/>
              <a:stCxn id="34" idx="3"/>
              <a:endCxn id="28" idx="1"/>
            </p:cNvCxnSpPr>
            <p:nvPr/>
          </p:nvCxnSpPr>
          <p:spPr>
            <a:xfrm>
              <a:off x="3014793" y="1861041"/>
              <a:ext cx="362730" cy="9655"/>
            </a:xfrm>
            <a:prstGeom prst="straightConnector1">
              <a:avLst/>
            </a:prstGeom>
            <a:ln w="12700">
              <a:headEnd type="oval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356987C9-69B9-537C-030B-1F842371E3F9}"/>
                </a:ext>
              </a:extLst>
            </p:cNvPr>
            <p:cNvSpPr txBox="1"/>
            <p:nvPr/>
          </p:nvSpPr>
          <p:spPr>
            <a:xfrm>
              <a:off x="937234" y="4867132"/>
              <a:ext cx="20775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zh-CN" sz="1600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query dense vector</a:t>
              </a:r>
              <a:endParaRPr kumimoji="1" lang="zh-CN" altLang="en-US" sz="1600" dirty="0">
                <a:latin typeface="Google Sans" pitchFamily="2" charset="0"/>
                <a:cs typeface="Google Sans" pitchFamily="2" charset="0"/>
              </a:endParaRPr>
            </a:p>
          </p:txBody>
        </p:sp>
        <p:cxnSp>
          <p:nvCxnSpPr>
            <p:cNvPr id="39" name="直线箭头连接符 38">
              <a:extLst>
                <a:ext uri="{FF2B5EF4-FFF2-40B4-BE49-F238E27FC236}">
                  <a16:creationId xmlns:a16="http://schemas.microsoft.com/office/drawing/2014/main" id="{8FA049C8-F4EE-FB9A-5B33-614639C823D5}"/>
                </a:ext>
              </a:extLst>
            </p:cNvPr>
            <p:cNvCxnSpPr>
              <a:cxnSpLocks/>
              <a:stCxn id="37" idx="3"/>
              <a:endCxn id="29" idx="1"/>
            </p:cNvCxnSpPr>
            <p:nvPr/>
          </p:nvCxnSpPr>
          <p:spPr>
            <a:xfrm>
              <a:off x="3014793" y="5036409"/>
              <a:ext cx="359429" cy="9654"/>
            </a:xfrm>
            <a:prstGeom prst="straightConnector1">
              <a:avLst/>
            </a:prstGeom>
            <a:ln w="12700">
              <a:headEnd type="oval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628CD2A2-2514-EBC6-970B-9DB51618B4C8}"/>
                </a:ext>
              </a:extLst>
            </p:cNvPr>
            <p:cNvSpPr/>
            <p:nvPr/>
          </p:nvSpPr>
          <p:spPr>
            <a:xfrm>
              <a:off x="6394380" y="2646016"/>
              <a:ext cx="1662956" cy="162472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b="1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hybrid scores</a:t>
              </a:r>
            </a:p>
            <a:p>
              <a:pPr algn="ctr"/>
              <a:r>
                <a:rPr kumimoji="1" lang="en-US" altLang="zh-CN" sz="1600" b="1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of candidates</a:t>
              </a:r>
              <a:endParaRPr kumimoji="1" lang="zh-CN" altLang="en-US" sz="1600" b="1" dirty="0">
                <a:latin typeface="Google Sans" pitchFamily="2" charset="0"/>
                <a:cs typeface="Google Sans" pitchFamily="2" charset="0"/>
              </a:endParaRPr>
            </a:p>
          </p:txBody>
        </p:sp>
        <p:cxnSp>
          <p:nvCxnSpPr>
            <p:cNvPr id="42" name="肘形连接符 41">
              <a:extLst>
                <a:ext uri="{FF2B5EF4-FFF2-40B4-BE49-F238E27FC236}">
                  <a16:creationId xmlns:a16="http://schemas.microsoft.com/office/drawing/2014/main" id="{88C9278C-BD53-C771-BAF5-E794144FF2F5}"/>
                </a:ext>
              </a:extLst>
            </p:cNvPr>
            <p:cNvCxnSpPr>
              <a:cxnSpLocks/>
              <a:stCxn id="28" idx="3"/>
              <a:endCxn id="40" idx="0"/>
            </p:cNvCxnSpPr>
            <p:nvPr/>
          </p:nvCxnSpPr>
          <p:spPr>
            <a:xfrm>
              <a:off x="5487826" y="1870695"/>
              <a:ext cx="1738033" cy="775321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肘形连接符 43">
              <a:extLst>
                <a:ext uri="{FF2B5EF4-FFF2-40B4-BE49-F238E27FC236}">
                  <a16:creationId xmlns:a16="http://schemas.microsoft.com/office/drawing/2014/main" id="{E863D186-4D6B-FEF5-0AC1-6B04A68458CA}"/>
                </a:ext>
              </a:extLst>
            </p:cNvPr>
            <p:cNvCxnSpPr>
              <a:cxnSpLocks/>
              <a:stCxn id="29" idx="3"/>
              <a:endCxn id="40" idx="2"/>
            </p:cNvCxnSpPr>
            <p:nvPr/>
          </p:nvCxnSpPr>
          <p:spPr>
            <a:xfrm flipV="1">
              <a:off x="5487826" y="4270742"/>
              <a:ext cx="1738033" cy="775322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633A8576-92F7-F6BD-7144-FB2F20A21E62}"/>
                </a:ext>
              </a:extLst>
            </p:cNvPr>
            <p:cNvSpPr txBox="1"/>
            <p:nvPr/>
          </p:nvSpPr>
          <p:spPr>
            <a:xfrm>
              <a:off x="6476164" y="1542654"/>
              <a:ext cx="749694" cy="262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zh-CN" sz="1200" i="1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1 - alpha</a:t>
              </a:r>
              <a:endParaRPr kumimoji="1" lang="zh-CN" altLang="en-US" sz="1200" i="1" dirty="0">
                <a:latin typeface="Google Sans" pitchFamily="2" charset="0"/>
                <a:cs typeface="Google Sans" pitchFamily="2" charset="0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1319BBA0-1D08-6A96-7BC0-FD0904CC3F47}"/>
                </a:ext>
              </a:extLst>
            </p:cNvPr>
            <p:cNvSpPr txBox="1"/>
            <p:nvPr/>
          </p:nvSpPr>
          <p:spPr>
            <a:xfrm>
              <a:off x="5913322" y="5040267"/>
              <a:ext cx="1312535" cy="262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zh-CN" sz="120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alpha</a:t>
              </a:r>
              <a:endParaRPr kumimoji="1" lang="zh-CN" altLang="en-US" sz="1200" i="1" dirty="0">
                <a:latin typeface="Google Sans" pitchFamily="2" charset="0"/>
                <a:cs typeface="Google Sans" pitchFamily="2" charset="0"/>
              </a:endParaRPr>
            </a:p>
          </p:txBody>
        </p:sp>
        <p:sp>
          <p:nvSpPr>
            <p:cNvPr id="47" name="圆角矩形 46">
              <a:extLst>
                <a:ext uri="{FF2B5EF4-FFF2-40B4-BE49-F238E27FC236}">
                  <a16:creationId xmlns:a16="http://schemas.microsoft.com/office/drawing/2014/main" id="{B079B5E4-69CB-946D-574B-E5C0175DAA97}"/>
                </a:ext>
              </a:extLst>
            </p:cNvPr>
            <p:cNvSpPr/>
            <p:nvPr/>
          </p:nvSpPr>
          <p:spPr>
            <a:xfrm>
              <a:off x="9176936" y="3173930"/>
              <a:ext cx="1827661" cy="562270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b="1" dirty="0" err="1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CrossEncoder</a:t>
              </a:r>
              <a:endParaRPr kumimoji="1" lang="zh-CN" altLang="en-US" sz="1600" b="1" dirty="0">
                <a:latin typeface="Google Sans" pitchFamily="2" charset="0"/>
                <a:cs typeface="Google Sans" pitchFamily="2" charset="0"/>
              </a:endParaRPr>
            </a:p>
          </p:txBody>
        </p:sp>
        <p:cxnSp>
          <p:nvCxnSpPr>
            <p:cNvPr id="51" name="直线箭头连接符 50">
              <a:extLst>
                <a:ext uri="{FF2B5EF4-FFF2-40B4-BE49-F238E27FC236}">
                  <a16:creationId xmlns:a16="http://schemas.microsoft.com/office/drawing/2014/main" id="{2F046455-BC39-841C-B69A-A27F7BC02371}"/>
                </a:ext>
              </a:extLst>
            </p:cNvPr>
            <p:cNvCxnSpPr>
              <a:stCxn id="40" idx="3"/>
              <a:endCxn id="47" idx="1"/>
            </p:cNvCxnSpPr>
            <p:nvPr/>
          </p:nvCxnSpPr>
          <p:spPr>
            <a:xfrm flipV="1">
              <a:off x="8057336" y="3455065"/>
              <a:ext cx="1119599" cy="3315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8EABA4D7-3080-18A7-5E6B-B67E08AD989D}"/>
                </a:ext>
              </a:extLst>
            </p:cNvPr>
            <p:cNvSpPr txBox="1"/>
            <p:nvPr/>
          </p:nvSpPr>
          <p:spPr>
            <a:xfrm>
              <a:off x="8121887" y="3148289"/>
              <a:ext cx="9904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top k docs</a:t>
              </a:r>
              <a:endParaRPr kumimoji="1" lang="zh-CN" altLang="en-US" sz="1200" dirty="0">
                <a:latin typeface="Google Sans" pitchFamily="2" charset="0"/>
                <a:cs typeface="Google Sans" pitchFamily="2" charset="0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D4E718AD-80F5-3395-9E3C-3ABCF3B2D357}"/>
                </a:ext>
              </a:extLst>
            </p:cNvPr>
            <p:cNvSpPr txBox="1"/>
            <p:nvPr/>
          </p:nvSpPr>
          <p:spPr>
            <a:xfrm>
              <a:off x="9462442" y="1799459"/>
              <a:ext cx="12566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600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query text</a:t>
              </a:r>
              <a:endParaRPr kumimoji="1" lang="zh-CN" altLang="en-US" sz="1600" dirty="0">
                <a:latin typeface="Google Sans" pitchFamily="2" charset="0"/>
                <a:cs typeface="Google Sans" pitchFamily="2" charset="0"/>
              </a:endParaRPr>
            </a:p>
          </p:txBody>
        </p:sp>
        <p:cxnSp>
          <p:nvCxnSpPr>
            <p:cNvPr id="58" name="直线箭头连接符 57">
              <a:extLst>
                <a:ext uri="{FF2B5EF4-FFF2-40B4-BE49-F238E27FC236}">
                  <a16:creationId xmlns:a16="http://schemas.microsoft.com/office/drawing/2014/main" id="{777AD283-D18A-06C2-E324-5974794E6968}"/>
                </a:ext>
              </a:extLst>
            </p:cNvPr>
            <p:cNvCxnSpPr>
              <a:cxnSpLocks/>
              <a:stCxn id="56" idx="2"/>
              <a:endCxn id="47" idx="0"/>
            </p:cNvCxnSpPr>
            <p:nvPr/>
          </p:nvCxnSpPr>
          <p:spPr>
            <a:xfrm>
              <a:off x="10090766" y="2138013"/>
              <a:ext cx="1" cy="1035917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oval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FBDEAEC5-9E25-6C96-0D15-73AADFBFC6DB}"/>
                </a:ext>
              </a:extLst>
            </p:cNvPr>
            <p:cNvSpPr txBox="1"/>
            <p:nvPr/>
          </p:nvSpPr>
          <p:spPr>
            <a:xfrm>
              <a:off x="8402545" y="4811943"/>
              <a:ext cx="3376436" cy="577081"/>
            </a:xfrm>
            <a:prstGeom prst="rect">
              <a:avLst/>
            </a:prstGeom>
            <a:solidFill>
              <a:srgbClr val="F2FFA5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zh-CN" sz="1050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rank 1: </a:t>
              </a:r>
              <a:r>
                <a:rPr kumimoji="1" lang="en-US" altLang="zh-CN" sz="1050" dirty="0">
                  <a:latin typeface="Google Sans" pitchFamily="2" charset="0"/>
                  <a:ea typeface="Google Sans" pitchFamily="2" charset="0"/>
                  <a:cs typeface="Google Sans" pitchFamily="2" charset="0"/>
                  <a:hlinkClick r:id="rId3"/>
                </a:rPr>
                <a:t>http://ai.ruc.edu.cn/xxx.html</a:t>
              </a:r>
              <a:endParaRPr kumimoji="1" lang="en-US" altLang="zh-CN" sz="1050" dirty="0">
                <a:latin typeface="Google Sans" pitchFamily="2" charset="0"/>
                <a:ea typeface="Google Sans" pitchFamily="2" charset="0"/>
                <a:cs typeface="Google Sans" pitchFamily="2" charset="0"/>
              </a:endParaRPr>
            </a:p>
            <a:p>
              <a:r>
                <a:rPr kumimoji="1" lang="en-US" altLang="zh-CN" sz="1050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rank 2: </a:t>
              </a:r>
              <a:r>
                <a:rPr kumimoji="1" lang="en-US" altLang="zh-CN" sz="1050" dirty="0">
                  <a:latin typeface="Google Sans" pitchFamily="2" charset="0"/>
                  <a:ea typeface="Google Sans" pitchFamily="2" charset="0"/>
                  <a:cs typeface="Google Sans" pitchFamily="2" charset="0"/>
                  <a:hlinkClick r:id="rId4"/>
                </a:rPr>
                <a:t>https://gsai.ruc.edu.cn/xxx.html</a:t>
              </a:r>
              <a:endParaRPr kumimoji="1" lang="en-US" altLang="zh-CN" sz="1050" dirty="0">
                <a:latin typeface="Google Sans" pitchFamily="2" charset="0"/>
                <a:ea typeface="Google Sans" pitchFamily="2" charset="0"/>
                <a:cs typeface="Google Sans" pitchFamily="2" charset="0"/>
              </a:endParaRPr>
            </a:p>
            <a:p>
              <a:r>
                <a:rPr kumimoji="1" lang="en-US" altLang="zh-CN" sz="1050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...</a:t>
              </a:r>
              <a:endParaRPr kumimoji="1" lang="zh-CN" altLang="en-US" sz="1050" dirty="0">
                <a:latin typeface="Google Sans" pitchFamily="2" charset="0"/>
                <a:cs typeface="Google Sans" pitchFamily="2" charset="0"/>
              </a:endParaRP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E6002DB0-6F5F-7394-1A9D-C75537523487}"/>
                </a:ext>
              </a:extLst>
            </p:cNvPr>
            <p:cNvSpPr txBox="1"/>
            <p:nvPr/>
          </p:nvSpPr>
          <p:spPr>
            <a:xfrm>
              <a:off x="9625440" y="4441583"/>
              <a:ext cx="9306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600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output</a:t>
              </a:r>
              <a:endParaRPr kumimoji="1" lang="zh-CN" altLang="en-US" sz="1600" dirty="0">
                <a:latin typeface="Google Sans" pitchFamily="2" charset="0"/>
                <a:cs typeface="Google Sans" pitchFamily="2" charset="0"/>
              </a:endParaRP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7BD8F382-5669-4716-8F34-D2E540FA1DBA}"/>
                </a:ext>
              </a:extLst>
            </p:cNvPr>
            <p:cNvSpPr txBox="1"/>
            <p:nvPr/>
          </p:nvSpPr>
          <p:spPr>
            <a:xfrm>
              <a:off x="3502492" y="1305156"/>
              <a:ext cx="18570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(match strict patterns)</a:t>
              </a:r>
              <a:endParaRPr kumimoji="1" lang="zh-CN" altLang="en-US" sz="1200" dirty="0">
                <a:latin typeface="Google Sans" pitchFamily="2" charset="0"/>
                <a:cs typeface="Google Sans" pitchFamily="2" charset="0"/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6C8304B4-896E-1EFD-C87A-3E24026A24D3}"/>
                </a:ext>
              </a:extLst>
            </p:cNvPr>
            <p:cNvSpPr txBox="1"/>
            <p:nvPr/>
          </p:nvSpPr>
          <p:spPr>
            <a:xfrm>
              <a:off x="3311456" y="5326892"/>
              <a:ext cx="22424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(match semantic meanings)</a:t>
              </a:r>
              <a:endParaRPr kumimoji="1" lang="zh-CN" altLang="en-US" sz="1200" dirty="0">
                <a:latin typeface="Google Sans" pitchFamily="2" charset="0"/>
                <a:cs typeface="Google Sans" pitchFamily="2" charset="0"/>
              </a:endParaRP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7848160B-5079-92FD-641B-821C600EE375}"/>
                </a:ext>
              </a:extLst>
            </p:cNvPr>
            <p:cNvSpPr txBox="1"/>
            <p:nvPr/>
          </p:nvSpPr>
          <p:spPr>
            <a:xfrm>
              <a:off x="10090763" y="3822112"/>
              <a:ext cx="16420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 err="1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rerank</a:t>
              </a:r>
              <a:endParaRPr kumimoji="1" lang="en-US" altLang="zh-CN" sz="1200" dirty="0">
                <a:latin typeface="Google Sans" pitchFamily="2" charset="0"/>
                <a:ea typeface="Google Sans" pitchFamily="2" charset="0"/>
                <a:cs typeface="Google Sans" pitchFamily="2" charset="0"/>
              </a:endParaRPr>
            </a:p>
            <a:p>
              <a:r>
                <a:rPr kumimoji="1" lang="en-US" altLang="zh-CN" sz="1200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(possibly fallback)</a:t>
              </a:r>
              <a:endParaRPr kumimoji="1" lang="zh-CN" altLang="en-US" sz="1200" dirty="0">
                <a:latin typeface="Google Sans" pitchFamily="2" charset="0"/>
                <a:cs typeface="Google Sans" pitchFamily="2" charset="0"/>
              </a:endParaRPr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47142EEB-D778-D480-75AB-4963FB6B12D2}"/>
                </a:ext>
              </a:extLst>
            </p:cNvPr>
            <p:cNvSpPr txBox="1"/>
            <p:nvPr/>
          </p:nvSpPr>
          <p:spPr>
            <a:xfrm>
              <a:off x="8022440" y="3475495"/>
              <a:ext cx="11893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most related chunk</a:t>
              </a:r>
              <a:endParaRPr kumimoji="1" lang="zh-CN" altLang="en-US" sz="1200" dirty="0">
                <a:latin typeface="Google Sans" pitchFamily="2" charset="0"/>
                <a:cs typeface="Google Sans" pitchFamily="2" charset="0"/>
              </a:endParaRPr>
            </a:p>
          </p:txBody>
        </p:sp>
        <p:cxnSp>
          <p:nvCxnSpPr>
            <p:cNvPr id="94" name="肘形连接符 93">
              <a:extLst>
                <a:ext uri="{FF2B5EF4-FFF2-40B4-BE49-F238E27FC236}">
                  <a16:creationId xmlns:a16="http://schemas.microsoft.com/office/drawing/2014/main" id="{7FE5C4E5-F1EC-0A37-0D88-068AC4BF9846}"/>
                </a:ext>
              </a:extLst>
            </p:cNvPr>
            <p:cNvCxnSpPr>
              <a:stCxn id="47" idx="2"/>
              <a:endCxn id="63" idx="0"/>
            </p:cNvCxnSpPr>
            <p:nvPr/>
          </p:nvCxnSpPr>
          <p:spPr>
            <a:xfrm rot="5400000">
              <a:off x="9738075" y="4088890"/>
              <a:ext cx="705383" cy="2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31328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组合 86">
            <a:extLst>
              <a:ext uri="{FF2B5EF4-FFF2-40B4-BE49-F238E27FC236}">
                <a16:creationId xmlns:a16="http://schemas.microsoft.com/office/drawing/2014/main" id="{805E0703-666B-CD00-0B69-9A2C01DC643B}"/>
              </a:ext>
            </a:extLst>
          </p:cNvPr>
          <p:cNvGrpSpPr/>
          <p:nvPr/>
        </p:nvGrpSpPr>
        <p:grpSpPr>
          <a:xfrm>
            <a:off x="234138" y="423494"/>
            <a:ext cx="11723723" cy="6011012"/>
            <a:chOff x="234138" y="423494"/>
            <a:chExt cx="11723723" cy="6011012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AACD58B0-A298-0FFC-BFA0-55C917C2F566}"/>
                </a:ext>
              </a:extLst>
            </p:cNvPr>
            <p:cNvSpPr/>
            <p:nvPr/>
          </p:nvSpPr>
          <p:spPr>
            <a:xfrm>
              <a:off x="394196" y="423494"/>
              <a:ext cx="1279909" cy="552118"/>
            </a:xfrm>
            <a:prstGeom prst="rect">
              <a:avLst/>
            </a:prstGeom>
            <a:solidFill>
              <a:srgbClr val="EA43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User Query</a:t>
              </a:r>
              <a:endParaRPr kumimoji="1" lang="zh-CN" altLang="en-US" sz="1600" dirty="0">
                <a:latin typeface="Google Sans" pitchFamily="2" charset="0"/>
                <a:cs typeface="Google Sans" pitchFamily="2" charset="0"/>
              </a:endParaRPr>
            </a:p>
          </p:txBody>
        </p:sp>
        <p:sp>
          <p:nvSpPr>
            <p:cNvPr id="5" name="圆角矩形 4">
              <a:extLst>
                <a:ext uri="{FF2B5EF4-FFF2-40B4-BE49-F238E27FC236}">
                  <a16:creationId xmlns:a16="http://schemas.microsoft.com/office/drawing/2014/main" id="{573D83A8-E512-CCAC-4BFF-8DB4A6B5BB10}"/>
                </a:ext>
              </a:extLst>
            </p:cNvPr>
            <p:cNvSpPr/>
            <p:nvPr/>
          </p:nvSpPr>
          <p:spPr>
            <a:xfrm>
              <a:off x="234138" y="1218153"/>
              <a:ext cx="1600024" cy="351348"/>
            </a:xfrm>
            <a:prstGeom prst="roundRect">
              <a:avLst/>
            </a:prstGeom>
            <a:noFill/>
            <a:ln>
              <a:solidFill>
                <a:srgbClr val="EA433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>
                  <a:solidFill>
                    <a:schemeClr val="tx1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Text Normalize</a:t>
              </a:r>
              <a:endParaRPr kumimoji="1" lang="zh-CN" altLang="en-US" sz="1600" dirty="0">
                <a:solidFill>
                  <a:schemeClr val="tx1"/>
                </a:solidFill>
                <a:latin typeface="Google Sans" pitchFamily="2" charset="0"/>
                <a:cs typeface="Google Sans" pitchFamily="2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7F6B254-D92E-BBA7-15B9-94E4CABFB2DC}"/>
                </a:ext>
              </a:extLst>
            </p:cNvPr>
            <p:cNvSpPr/>
            <p:nvPr/>
          </p:nvSpPr>
          <p:spPr>
            <a:xfrm>
              <a:off x="1973772" y="2069637"/>
              <a:ext cx="1600024" cy="1108574"/>
            </a:xfrm>
            <a:prstGeom prst="rect">
              <a:avLst/>
            </a:prstGeom>
            <a:solidFill>
              <a:srgbClr val="1F87FD"/>
            </a:solidFill>
            <a:ln w="762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dirty="0">
                  <a:solidFill>
                    <a:schemeClr val="bg1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Agent</a:t>
              </a:r>
              <a:endParaRPr kumimoji="1" lang="zh-CN" altLang="en-US" sz="2400" dirty="0">
                <a:solidFill>
                  <a:schemeClr val="bg1"/>
                </a:solidFill>
                <a:latin typeface="Google Sans" pitchFamily="2" charset="0"/>
                <a:cs typeface="Google Sans" pitchFamily="2" charset="0"/>
              </a:endParaRPr>
            </a:p>
          </p:txBody>
        </p:sp>
        <p:sp>
          <p:nvSpPr>
            <p:cNvPr id="16" name="左大括号 15">
              <a:extLst>
                <a:ext uri="{FF2B5EF4-FFF2-40B4-BE49-F238E27FC236}">
                  <a16:creationId xmlns:a16="http://schemas.microsoft.com/office/drawing/2014/main" id="{BEEA5A47-AFCC-8759-1E38-34445DD1C605}"/>
                </a:ext>
              </a:extLst>
            </p:cNvPr>
            <p:cNvSpPr/>
            <p:nvPr/>
          </p:nvSpPr>
          <p:spPr>
            <a:xfrm rot="5400000">
              <a:off x="2644106" y="1059985"/>
              <a:ext cx="254785" cy="4870244"/>
            </a:xfrm>
            <a:prstGeom prst="leftBrace">
              <a:avLst/>
            </a:prstGeom>
            <a:ln w="38100">
              <a:solidFill>
                <a:srgbClr val="1F87F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 sz="1600"/>
            </a:p>
          </p:txBody>
        </p:sp>
        <p:cxnSp>
          <p:nvCxnSpPr>
            <p:cNvPr id="20" name="直线连接符 19">
              <a:extLst>
                <a:ext uri="{FF2B5EF4-FFF2-40B4-BE49-F238E27FC236}">
                  <a16:creationId xmlns:a16="http://schemas.microsoft.com/office/drawing/2014/main" id="{342028FA-F8B8-8DDA-3724-4EA7C4A7A58D}"/>
                </a:ext>
              </a:extLst>
            </p:cNvPr>
            <p:cNvCxnSpPr>
              <a:cxnSpLocks/>
              <a:stCxn id="8" idx="2"/>
              <a:endCxn id="16" idx="1"/>
            </p:cNvCxnSpPr>
            <p:nvPr/>
          </p:nvCxnSpPr>
          <p:spPr>
            <a:xfrm flipH="1">
              <a:off x="2771499" y="3178211"/>
              <a:ext cx="2285" cy="189503"/>
            </a:xfrm>
            <a:prstGeom prst="line">
              <a:avLst/>
            </a:prstGeom>
            <a:ln w="38100">
              <a:solidFill>
                <a:srgbClr val="1F87F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圆角矩形 25">
              <a:extLst>
                <a:ext uri="{FF2B5EF4-FFF2-40B4-BE49-F238E27FC236}">
                  <a16:creationId xmlns:a16="http://schemas.microsoft.com/office/drawing/2014/main" id="{A48D8C67-B2DC-B270-7AF0-EC305DFFBF0D}"/>
                </a:ext>
              </a:extLst>
            </p:cNvPr>
            <p:cNvSpPr/>
            <p:nvPr/>
          </p:nvSpPr>
          <p:spPr>
            <a:xfrm>
              <a:off x="461625" y="3692686"/>
              <a:ext cx="1212480" cy="418816"/>
            </a:xfrm>
            <a:prstGeom prst="roundRect">
              <a:avLst/>
            </a:prstGeom>
            <a:noFill/>
            <a:ln>
              <a:solidFill>
                <a:srgbClr val="1F87F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>
                  <a:solidFill>
                    <a:schemeClr val="tx1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Search</a:t>
              </a:r>
              <a:endParaRPr kumimoji="1" lang="zh-CN" altLang="en-US" sz="1600" dirty="0">
                <a:solidFill>
                  <a:schemeClr val="tx1"/>
                </a:solidFill>
                <a:latin typeface="Google Sans" pitchFamily="2" charset="0"/>
                <a:cs typeface="Google Sans" pitchFamily="2" charset="0"/>
              </a:endParaRPr>
            </a:p>
          </p:txBody>
        </p:sp>
        <p:sp>
          <p:nvSpPr>
            <p:cNvPr id="27" name="圆角矩形 26">
              <a:extLst>
                <a:ext uri="{FF2B5EF4-FFF2-40B4-BE49-F238E27FC236}">
                  <a16:creationId xmlns:a16="http://schemas.microsoft.com/office/drawing/2014/main" id="{267906A7-15A6-2F10-15C2-DFD2FE164B67}"/>
                </a:ext>
              </a:extLst>
            </p:cNvPr>
            <p:cNvSpPr/>
            <p:nvPr/>
          </p:nvSpPr>
          <p:spPr>
            <a:xfrm>
              <a:off x="2167544" y="3692686"/>
              <a:ext cx="1212480" cy="418816"/>
            </a:xfrm>
            <a:prstGeom prst="roundRect">
              <a:avLst/>
            </a:prstGeom>
            <a:noFill/>
            <a:ln>
              <a:solidFill>
                <a:srgbClr val="1F87F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>
                  <a:solidFill>
                    <a:schemeClr val="tx1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Collect</a:t>
              </a:r>
              <a:endParaRPr kumimoji="1" lang="zh-CN" altLang="en-US" sz="1600" dirty="0">
                <a:solidFill>
                  <a:schemeClr val="tx1"/>
                </a:solidFill>
                <a:latin typeface="Google Sans" pitchFamily="2" charset="0"/>
                <a:cs typeface="Google Sans" pitchFamily="2" charset="0"/>
              </a:endParaRPr>
            </a:p>
          </p:txBody>
        </p:sp>
        <p:sp>
          <p:nvSpPr>
            <p:cNvPr id="28" name="圆角矩形 27">
              <a:extLst>
                <a:ext uri="{FF2B5EF4-FFF2-40B4-BE49-F238E27FC236}">
                  <a16:creationId xmlns:a16="http://schemas.microsoft.com/office/drawing/2014/main" id="{43524EEA-83FB-D701-83C3-9F58056588CC}"/>
                </a:ext>
              </a:extLst>
            </p:cNvPr>
            <p:cNvSpPr/>
            <p:nvPr/>
          </p:nvSpPr>
          <p:spPr>
            <a:xfrm>
              <a:off x="3873463" y="3692686"/>
              <a:ext cx="1212480" cy="418816"/>
            </a:xfrm>
            <a:prstGeom prst="roundRect">
              <a:avLst/>
            </a:prstGeom>
            <a:noFill/>
            <a:ln>
              <a:solidFill>
                <a:srgbClr val="1F87F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>
                  <a:solidFill>
                    <a:schemeClr val="tx1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Calculate</a:t>
              </a:r>
              <a:endParaRPr kumimoji="1" lang="zh-CN" altLang="en-US" sz="1600" dirty="0">
                <a:solidFill>
                  <a:schemeClr val="tx1"/>
                </a:solidFill>
                <a:latin typeface="Google Sans" pitchFamily="2" charset="0"/>
                <a:cs typeface="Google Sans" pitchFamily="2" charset="0"/>
              </a:endParaRPr>
            </a:p>
          </p:txBody>
        </p:sp>
        <p:sp>
          <p:nvSpPr>
            <p:cNvPr id="32" name="左大括号 31">
              <a:extLst>
                <a:ext uri="{FF2B5EF4-FFF2-40B4-BE49-F238E27FC236}">
                  <a16:creationId xmlns:a16="http://schemas.microsoft.com/office/drawing/2014/main" id="{20AD93D0-AE5B-0A39-7E1C-51FF14577F56}"/>
                </a:ext>
              </a:extLst>
            </p:cNvPr>
            <p:cNvSpPr/>
            <p:nvPr/>
          </p:nvSpPr>
          <p:spPr>
            <a:xfrm rot="16200000">
              <a:off x="2644106" y="2502549"/>
              <a:ext cx="254785" cy="4870244"/>
            </a:xfrm>
            <a:prstGeom prst="leftBrace">
              <a:avLst/>
            </a:prstGeom>
            <a:ln w="38100">
              <a:solidFill>
                <a:srgbClr val="1F87F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 sz="1600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9C2530AB-5693-A5C0-A236-3A759B782857}"/>
                </a:ext>
              </a:extLst>
            </p:cNvPr>
            <p:cNvSpPr/>
            <p:nvPr/>
          </p:nvSpPr>
          <p:spPr>
            <a:xfrm>
              <a:off x="1190434" y="5299280"/>
              <a:ext cx="3162130" cy="9511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tx1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Local Knowledge Base</a:t>
              </a:r>
              <a:endParaRPr kumimoji="1" lang="zh-CN" altLang="en-US" sz="2000" dirty="0">
                <a:solidFill>
                  <a:schemeClr val="tx1"/>
                </a:solidFill>
                <a:latin typeface="Google Sans" pitchFamily="2" charset="0"/>
                <a:cs typeface="Google Sans" pitchFamily="2" charset="0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252E92CF-E455-E8B7-F4C4-3A88422B15EB}"/>
                </a:ext>
              </a:extLst>
            </p:cNvPr>
            <p:cNvSpPr txBox="1"/>
            <p:nvPr/>
          </p:nvSpPr>
          <p:spPr>
            <a:xfrm>
              <a:off x="336377" y="4292677"/>
              <a:ext cx="1415200" cy="423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Retrieve top-k related passages</a:t>
              </a:r>
              <a:endParaRPr kumimoji="1" lang="zh-CN" altLang="en-US" sz="1200" dirty="0">
                <a:latin typeface="Google Sans" pitchFamily="2" charset="0"/>
                <a:cs typeface="Google Sans" pitchFamily="2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7229ED9F-2214-E1F4-C85F-E410D6AFEBF0}"/>
                </a:ext>
              </a:extLst>
            </p:cNvPr>
            <p:cNvSpPr txBox="1"/>
            <p:nvPr/>
          </p:nvSpPr>
          <p:spPr>
            <a:xfrm>
              <a:off x="2023475" y="4204632"/>
              <a:ext cx="1496048" cy="5932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latin typeface="Google Sans" pitchFamily="2" charset="0"/>
                  <a:cs typeface="Google Sans" pitchFamily="2" charset="0"/>
                </a:rPr>
                <a:t>Extract all records from a scoped resource</a:t>
              </a: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8198B201-8D90-5B30-5758-59243055D527}"/>
                </a:ext>
              </a:extLst>
            </p:cNvPr>
            <p:cNvSpPr txBox="1"/>
            <p:nvPr/>
          </p:nvSpPr>
          <p:spPr>
            <a:xfrm>
              <a:off x="3710572" y="4292677"/>
              <a:ext cx="1496048" cy="423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latin typeface="Google Sans" pitchFamily="2" charset="0"/>
                  <a:cs typeface="Google Sans" pitchFamily="2" charset="0"/>
                </a:rPr>
                <a:t>Perform precise calculation</a:t>
              </a:r>
              <a:endParaRPr lang="zh-CN" altLang="zh-CN" sz="1200" dirty="0">
                <a:latin typeface="Google Sans" pitchFamily="2" charset="0"/>
                <a:cs typeface="Google Sans" pitchFamily="2" charset="0"/>
              </a:endParaRPr>
            </a:p>
          </p:txBody>
        </p:sp>
        <p:cxnSp>
          <p:nvCxnSpPr>
            <p:cNvPr id="37" name="直线连接符 36">
              <a:extLst>
                <a:ext uri="{FF2B5EF4-FFF2-40B4-BE49-F238E27FC236}">
                  <a16:creationId xmlns:a16="http://schemas.microsoft.com/office/drawing/2014/main" id="{31C11C41-7049-D135-D08C-2EB26E00D69A}"/>
                </a:ext>
              </a:extLst>
            </p:cNvPr>
            <p:cNvCxnSpPr>
              <a:cxnSpLocks/>
              <a:stCxn id="33" idx="0"/>
              <a:endCxn id="32" idx="1"/>
            </p:cNvCxnSpPr>
            <p:nvPr/>
          </p:nvCxnSpPr>
          <p:spPr>
            <a:xfrm flipV="1">
              <a:off x="2771498" y="5065064"/>
              <a:ext cx="0" cy="234216"/>
            </a:xfrm>
            <a:prstGeom prst="line">
              <a:avLst/>
            </a:prstGeom>
            <a:ln w="38100">
              <a:solidFill>
                <a:srgbClr val="1F87F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线箭头连接符 42">
              <a:extLst>
                <a:ext uri="{FF2B5EF4-FFF2-40B4-BE49-F238E27FC236}">
                  <a16:creationId xmlns:a16="http://schemas.microsoft.com/office/drawing/2014/main" id="{2762FBD4-7A6B-9AB5-3FC5-83EEBFD3F32A}"/>
                </a:ext>
              </a:extLst>
            </p:cNvPr>
            <p:cNvCxnSpPr>
              <a:cxnSpLocks/>
            </p:cNvCxnSpPr>
            <p:nvPr/>
          </p:nvCxnSpPr>
          <p:spPr>
            <a:xfrm>
              <a:off x="5406405" y="4204632"/>
              <a:ext cx="1457108" cy="0"/>
            </a:xfrm>
            <a:prstGeom prst="straightConnector1">
              <a:avLst/>
            </a:prstGeom>
            <a:ln w="38100">
              <a:solidFill>
                <a:srgbClr val="1F87F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5A8AFB2A-8AA9-23E4-723E-94B07A2D9C31}"/>
                </a:ext>
              </a:extLst>
            </p:cNvPr>
            <p:cNvSpPr/>
            <p:nvPr/>
          </p:nvSpPr>
          <p:spPr>
            <a:xfrm>
              <a:off x="7007029" y="3851152"/>
              <a:ext cx="1722207" cy="706960"/>
            </a:xfrm>
            <a:prstGeom prst="rect">
              <a:avLst/>
            </a:prstGeom>
            <a:solidFill>
              <a:srgbClr val="1F87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Evidence Pool</a:t>
              </a:r>
              <a:endParaRPr kumimoji="1" lang="zh-CN" altLang="en-US" dirty="0">
                <a:latin typeface="Google Sans" pitchFamily="2" charset="0"/>
                <a:cs typeface="Google Sans" pitchFamily="2" charset="0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5374D122-ABC0-D96D-CDA6-168ACC9CFA6D}"/>
                </a:ext>
              </a:extLst>
            </p:cNvPr>
            <p:cNvSpPr txBox="1"/>
            <p:nvPr/>
          </p:nvSpPr>
          <p:spPr>
            <a:xfrm>
              <a:off x="5245722" y="3902094"/>
              <a:ext cx="1722206" cy="2825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Results added to</a:t>
              </a:r>
              <a:endParaRPr kumimoji="1" lang="zh-CN" altLang="en-US" sz="1400" dirty="0">
                <a:latin typeface="Google Sans" pitchFamily="2" charset="0"/>
                <a:cs typeface="Google Sans" pitchFamily="2" charset="0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9AC15B8B-3391-FDB7-2351-8BD51B32C5DC}"/>
                </a:ext>
              </a:extLst>
            </p:cNvPr>
            <p:cNvSpPr txBox="1"/>
            <p:nvPr/>
          </p:nvSpPr>
          <p:spPr>
            <a:xfrm>
              <a:off x="6551405" y="4649402"/>
              <a:ext cx="2633454" cy="1785104"/>
            </a:xfrm>
            <a:prstGeom prst="rect">
              <a:avLst/>
            </a:prstGeom>
            <a:solidFill>
              <a:srgbClr val="F2FFA5"/>
            </a:solidFill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>
                  <a:latin typeface="Lucida Console" panose="020B0609040504020204" pitchFamily="49" charset="0"/>
                </a:rPr>
                <a:t>evidence_1:</a:t>
              </a:r>
            </a:p>
            <a:p>
              <a:r>
                <a:rPr kumimoji="1" lang="en-US" altLang="zh-CN" sz="1100" dirty="0">
                  <a:latin typeface="Lucida Console" panose="020B0609040504020204" pitchFamily="49" charset="0"/>
                </a:rPr>
                <a:t>{</a:t>
              </a:r>
            </a:p>
            <a:p>
              <a:pPr lvl="1"/>
              <a:r>
                <a:rPr kumimoji="1" lang="en-US" altLang="zh-CN" sz="1100" dirty="0" err="1">
                  <a:latin typeface="Lucida Console" panose="020B0609040504020204" pitchFamily="49" charset="0"/>
                </a:rPr>
                <a:t>evidence_id</a:t>
              </a:r>
              <a:r>
                <a:rPr kumimoji="1" lang="en-US" altLang="zh-CN" sz="1100" dirty="0">
                  <a:latin typeface="Lucida Console" panose="020B0609040504020204" pitchFamily="49" charset="0"/>
                </a:rPr>
                <a:t>,</a:t>
              </a:r>
            </a:p>
            <a:p>
              <a:pPr lvl="1"/>
              <a:r>
                <a:rPr kumimoji="1" lang="en-US" altLang="zh-CN" sz="1100" dirty="0">
                  <a:latin typeface="Lucida Console" panose="020B0609040504020204" pitchFamily="49" charset="0"/>
                </a:rPr>
                <a:t>title,</a:t>
              </a:r>
            </a:p>
            <a:p>
              <a:pPr lvl="1"/>
              <a:r>
                <a:rPr kumimoji="1" lang="en-US" altLang="zh-CN" sz="1100" dirty="0" err="1">
                  <a:latin typeface="Lucida Console" panose="020B0609040504020204" pitchFamily="49" charset="0"/>
                </a:rPr>
                <a:t>url</a:t>
              </a:r>
              <a:r>
                <a:rPr kumimoji="1" lang="en-US" altLang="zh-CN" sz="1100" dirty="0">
                  <a:latin typeface="Lucida Console" panose="020B0609040504020204" pitchFamily="49" charset="0"/>
                </a:rPr>
                <a:t>,</a:t>
              </a:r>
            </a:p>
            <a:p>
              <a:pPr lvl="1"/>
              <a:r>
                <a:rPr kumimoji="1" lang="en-US" altLang="zh-CN" sz="1100" dirty="0" err="1">
                  <a:latin typeface="Lucida Console" panose="020B0609040504020204" pitchFamily="49" charset="0"/>
                </a:rPr>
                <a:t>published_date</a:t>
              </a:r>
              <a:r>
                <a:rPr kumimoji="1" lang="en-US" altLang="zh-CN" sz="1100" dirty="0">
                  <a:latin typeface="Lucida Console" panose="020B0609040504020204" pitchFamily="49" charset="0"/>
                </a:rPr>
                <a:t>,</a:t>
              </a:r>
            </a:p>
            <a:p>
              <a:pPr lvl="1"/>
              <a:r>
                <a:rPr kumimoji="1" lang="en-US" altLang="zh-CN" sz="1100" dirty="0">
                  <a:latin typeface="Lucida Console" panose="020B0609040504020204" pitchFamily="49" charset="0"/>
                </a:rPr>
                <a:t>passage,</a:t>
              </a:r>
            </a:p>
            <a:p>
              <a:pPr lvl="1"/>
              <a:r>
                <a:rPr kumimoji="1" lang="en-US" altLang="zh-CN" sz="1100" dirty="0" err="1">
                  <a:latin typeface="Lucida Console" panose="020B0609040504020204" pitchFamily="49" charset="0"/>
                </a:rPr>
                <a:t>structured_content</a:t>
              </a:r>
              <a:r>
                <a:rPr kumimoji="1" lang="en-US" altLang="zh-CN" sz="1100" dirty="0">
                  <a:latin typeface="Lucida Console" panose="020B0609040504020204" pitchFamily="49" charset="0"/>
                </a:rPr>
                <a:t>,</a:t>
              </a:r>
            </a:p>
            <a:p>
              <a:pPr lvl="1"/>
              <a:r>
                <a:rPr kumimoji="1" lang="en-US" altLang="zh-CN" sz="1100" dirty="0" err="1">
                  <a:latin typeface="Lucida Console" panose="020B0609040504020204" pitchFamily="49" charset="0"/>
                </a:rPr>
                <a:t>retrieval_query</a:t>
              </a:r>
              <a:endParaRPr kumimoji="1" lang="en-US" altLang="zh-CN" sz="1100" dirty="0">
                <a:latin typeface="Lucida Console" panose="020B0609040504020204" pitchFamily="49" charset="0"/>
              </a:endParaRPr>
            </a:p>
            <a:p>
              <a:r>
                <a:rPr kumimoji="1" lang="en-US" altLang="zh-CN" sz="1100" dirty="0">
                  <a:latin typeface="Lucida Console" panose="020B0609040504020204" pitchFamily="49" charset="0"/>
                </a:rPr>
                <a:t>}, ...</a:t>
              </a:r>
            </a:p>
          </p:txBody>
        </p:sp>
        <p:cxnSp>
          <p:nvCxnSpPr>
            <p:cNvPr id="54" name="直线连接符 53">
              <a:extLst>
                <a:ext uri="{FF2B5EF4-FFF2-40B4-BE49-F238E27FC236}">
                  <a16:creationId xmlns:a16="http://schemas.microsoft.com/office/drawing/2014/main" id="{C2CFB59E-D08C-32E9-9C6D-6D7C7BB0F2A3}"/>
                </a:ext>
              </a:extLst>
            </p:cNvPr>
            <p:cNvCxnSpPr>
              <a:stCxn id="4" idx="2"/>
              <a:endCxn id="5" idx="0"/>
            </p:cNvCxnSpPr>
            <p:nvPr/>
          </p:nvCxnSpPr>
          <p:spPr>
            <a:xfrm flipH="1">
              <a:off x="1034150" y="975612"/>
              <a:ext cx="1" cy="242541"/>
            </a:xfrm>
            <a:prstGeom prst="line">
              <a:avLst/>
            </a:prstGeom>
            <a:ln>
              <a:solidFill>
                <a:srgbClr val="EA43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肘形连接符 55">
              <a:extLst>
                <a:ext uri="{FF2B5EF4-FFF2-40B4-BE49-F238E27FC236}">
                  <a16:creationId xmlns:a16="http://schemas.microsoft.com/office/drawing/2014/main" id="{C70536C2-C8BB-0228-927E-F0A33CDE728C}"/>
                </a:ext>
              </a:extLst>
            </p:cNvPr>
            <p:cNvCxnSpPr>
              <a:stCxn id="5" idx="2"/>
              <a:endCxn id="8" idx="1"/>
            </p:cNvCxnSpPr>
            <p:nvPr/>
          </p:nvCxnSpPr>
          <p:spPr>
            <a:xfrm rot="16200000" flipH="1">
              <a:off x="976750" y="1626901"/>
              <a:ext cx="1054423" cy="939622"/>
            </a:xfrm>
            <a:prstGeom prst="bentConnector2">
              <a:avLst/>
            </a:prstGeom>
            <a:ln>
              <a:solidFill>
                <a:srgbClr val="EA433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BAD1C97B-AEA8-47FE-5C83-971808AE570D}"/>
                </a:ext>
              </a:extLst>
            </p:cNvPr>
            <p:cNvSpPr/>
            <p:nvPr/>
          </p:nvSpPr>
          <p:spPr>
            <a:xfrm>
              <a:off x="7007029" y="2270444"/>
              <a:ext cx="1722207" cy="706960"/>
            </a:xfrm>
            <a:prstGeom prst="rect">
              <a:avLst/>
            </a:prstGeom>
            <a:solidFill>
              <a:srgbClr val="1F87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latin typeface="Google Sans" pitchFamily="2" charset="0"/>
                  <a:cs typeface="Google Sans" pitchFamily="2" charset="0"/>
                </a:rPr>
                <a:t>Verifier</a:t>
              </a:r>
              <a:endParaRPr kumimoji="1" lang="zh-CN" altLang="en-US" dirty="0">
                <a:latin typeface="Google Sans" pitchFamily="2" charset="0"/>
                <a:cs typeface="Google Sans" pitchFamily="2" charset="0"/>
              </a:endParaRPr>
            </a:p>
          </p:txBody>
        </p:sp>
        <p:cxnSp>
          <p:nvCxnSpPr>
            <p:cNvPr id="64" name="直线箭头连接符 63">
              <a:extLst>
                <a:ext uri="{FF2B5EF4-FFF2-40B4-BE49-F238E27FC236}">
                  <a16:creationId xmlns:a16="http://schemas.microsoft.com/office/drawing/2014/main" id="{92BE33F5-A41A-2004-F5D5-752B114A1B35}"/>
                </a:ext>
              </a:extLst>
            </p:cNvPr>
            <p:cNvCxnSpPr>
              <a:stCxn id="44" idx="0"/>
              <a:endCxn id="62" idx="2"/>
            </p:cNvCxnSpPr>
            <p:nvPr/>
          </p:nvCxnSpPr>
          <p:spPr>
            <a:xfrm flipV="1">
              <a:off x="7868133" y="2977404"/>
              <a:ext cx="0" cy="873748"/>
            </a:xfrm>
            <a:prstGeom prst="straightConnector1">
              <a:avLst/>
            </a:prstGeom>
            <a:ln w="38100">
              <a:solidFill>
                <a:srgbClr val="1F87F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BD4807A7-DEE4-43F9-48FB-AA7DE17C335A}"/>
                </a:ext>
              </a:extLst>
            </p:cNvPr>
            <p:cNvSpPr txBox="1"/>
            <p:nvPr/>
          </p:nvSpPr>
          <p:spPr>
            <a:xfrm>
              <a:off x="8358835" y="1281205"/>
              <a:ext cx="207766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Are all requirements satisfied?</a:t>
              </a:r>
              <a:endParaRPr kumimoji="1" lang="zh-CN" altLang="en-US" dirty="0">
                <a:latin typeface="Google Sans" pitchFamily="2" charset="0"/>
                <a:cs typeface="Google Sans" pitchFamily="2" charset="0"/>
              </a:endParaRPr>
            </a:p>
          </p:txBody>
        </p:sp>
        <p:cxnSp>
          <p:nvCxnSpPr>
            <p:cNvPr id="72" name="肘形连接符 71">
              <a:extLst>
                <a:ext uri="{FF2B5EF4-FFF2-40B4-BE49-F238E27FC236}">
                  <a16:creationId xmlns:a16="http://schemas.microsoft.com/office/drawing/2014/main" id="{E6023E37-F7E9-898C-AD08-3AA0FD5446DE}"/>
                </a:ext>
              </a:extLst>
            </p:cNvPr>
            <p:cNvCxnSpPr>
              <a:stCxn id="62" idx="0"/>
              <a:endCxn id="8" idx="0"/>
            </p:cNvCxnSpPr>
            <p:nvPr/>
          </p:nvCxnSpPr>
          <p:spPr>
            <a:xfrm rot="16200000" flipV="1">
              <a:off x="5220556" y="-377134"/>
              <a:ext cx="200807" cy="5094349"/>
            </a:xfrm>
            <a:prstGeom prst="bentConnector3">
              <a:avLst>
                <a:gd name="adj1" fmla="val 437909"/>
              </a:avLst>
            </a:prstGeom>
            <a:ln w="38100">
              <a:solidFill>
                <a:srgbClr val="1F87F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F31FF24A-65CB-BE6C-DBAE-6075865458A2}"/>
                </a:ext>
              </a:extLst>
            </p:cNvPr>
            <p:cNvSpPr txBox="1"/>
            <p:nvPr/>
          </p:nvSpPr>
          <p:spPr>
            <a:xfrm>
              <a:off x="3873463" y="1419704"/>
              <a:ext cx="315471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Missing evidence / follow-up queries</a:t>
              </a:r>
              <a:endParaRPr kumimoji="1" lang="zh-CN" altLang="en-US" sz="1600" dirty="0">
                <a:latin typeface="Google Sans" pitchFamily="2" charset="0"/>
                <a:cs typeface="Google Sans" pitchFamily="2" charset="0"/>
              </a:endParaRPr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D5BA8426-CD96-7756-F3E3-0B5FA259A077}"/>
                </a:ext>
              </a:extLst>
            </p:cNvPr>
            <p:cNvSpPr txBox="1"/>
            <p:nvPr/>
          </p:nvSpPr>
          <p:spPr>
            <a:xfrm>
              <a:off x="4261869" y="958617"/>
              <a:ext cx="21181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600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(Up to ~5 rounds)</a:t>
              </a:r>
              <a:endParaRPr kumimoji="1" lang="zh-CN" altLang="en-US" sz="1600" dirty="0">
                <a:latin typeface="Google Sans" pitchFamily="2" charset="0"/>
                <a:cs typeface="Google Sans" pitchFamily="2" charset="0"/>
              </a:endParaRPr>
            </a:p>
          </p:txBody>
        </p:sp>
        <p:cxnSp>
          <p:nvCxnSpPr>
            <p:cNvPr id="78" name="直线箭头连接符 77">
              <a:extLst>
                <a:ext uri="{FF2B5EF4-FFF2-40B4-BE49-F238E27FC236}">
                  <a16:creationId xmlns:a16="http://schemas.microsoft.com/office/drawing/2014/main" id="{70A00133-8A61-04AF-A454-ADEF5674DE3D}"/>
                </a:ext>
              </a:extLst>
            </p:cNvPr>
            <p:cNvCxnSpPr>
              <a:stCxn id="62" idx="3"/>
            </p:cNvCxnSpPr>
            <p:nvPr/>
          </p:nvCxnSpPr>
          <p:spPr>
            <a:xfrm>
              <a:off x="8729236" y="2623924"/>
              <a:ext cx="1336701" cy="0"/>
            </a:xfrm>
            <a:prstGeom prst="straightConnector1">
              <a:avLst/>
            </a:prstGeom>
            <a:ln w="38100">
              <a:solidFill>
                <a:srgbClr val="34A853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圆角矩形 79">
              <a:extLst>
                <a:ext uri="{FF2B5EF4-FFF2-40B4-BE49-F238E27FC236}">
                  <a16:creationId xmlns:a16="http://schemas.microsoft.com/office/drawing/2014/main" id="{8DAAF6D0-0FD3-3DC2-BBF5-0A855BCE6629}"/>
                </a:ext>
              </a:extLst>
            </p:cNvPr>
            <p:cNvSpPr/>
            <p:nvPr/>
          </p:nvSpPr>
          <p:spPr>
            <a:xfrm>
              <a:off x="10065939" y="2270446"/>
              <a:ext cx="1891922" cy="2539832"/>
            </a:xfrm>
            <a:prstGeom prst="roundRect">
              <a:avLst/>
            </a:prstGeom>
            <a:noFill/>
            <a:ln w="50800">
              <a:solidFill>
                <a:srgbClr val="34A85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894D7972-D361-49F4-9171-CC80E0E7563D}"/>
                </a:ext>
              </a:extLst>
            </p:cNvPr>
            <p:cNvSpPr txBox="1"/>
            <p:nvPr/>
          </p:nvSpPr>
          <p:spPr>
            <a:xfrm>
              <a:off x="10402300" y="2423869"/>
              <a:ext cx="1219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000" b="1" dirty="0">
                  <a:solidFill>
                    <a:srgbClr val="34A853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Answer</a:t>
              </a:r>
              <a:endParaRPr kumimoji="1" lang="zh-CN" altLang="en-US" sz="2000" b="1" dirty="0">
                <a:solidFill>
                  <a:srgbClr val="34A853"/>
                </a:solidFill>
                <a:latin typeface="Google Sans" pitchFamily="2" charset="0"/>
                <a:cs typeface="Google Sans" pitchFamily="2" charset="0"/>
              </a:endParaRP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0C832432-FAD0-D93A-9003-AB29CDA1DA54}"/>
                </a:ext>
              </a:extLst>
            </p:cNvPr>
            <p:cNvSpPr txBox="1"/>
            <p:nvPr/>
          </p:nvSpPr>
          <p:spPr>
            <a:xfrm>
              <a:off x="1674105" y="496768"/>
              <a:ext cx="260098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"2021 GSAI summer camp attendance count"</a:t>
              </a:r>
              <a:endParaRPr kumimoji="1" lang="zh-CN" altLang="en-US" sz="1400" dirty="0">
                <a:latin typeface="Google Sans" pitchFamily="2" charset="0"/>
                <a:cs typeface="Google Sans" pitchFamily="2" charset="0"/>
              </a:endParaRPr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BA1A1F50-B4F9-92C8-D0BE-CADFA26F2694}"/>
                </a:ext>
              </a:extLst>
            </p:cNvPr>
            <p:cNvSpPr txBox="1"/>
            <p:nvPr/>
          </p:nvSpPr>
          <p:spPr>
            <a:xfrm>
              <a:off x="10124165" y="2977403"/>
              <a:ext cx="1833696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A total of </a:t>
              </a:r>
              <a:r>
                <a:rPr kumimoji="1" lang="en-US" altLang="zh-CN" sz="1400" b="1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257</a:t>
              </a:r>
              <a:r>
                <a:rPr kumimoji="1" lang="en-US" altLang="zh-CN" sz="1400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 people participated in the 2021 GSAI Summer Camp.</a:t>
              </a:r>
            </a:p>
            <a:p>
              <a:endParaRPr kumimoji="1" lang="en-US" altLang="zh-CN" sz="1400" dirty="0">
                <a:latin typeface="Google Sans" pitchFamily="2" charset="0"/>
                <a:ea typeface="Google Sans" pitchFamily="2" charset="0"/>
                <a:cs typeface="Google Sans" pitchFamily="2" charset="0"/>
              </a:endParaRPr>
            </a:p>
            <a:p>
              <a:r>
                <a:rPr kumimoji="1" lang="en-US" altLang="zh-CN" sz="1400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Evidence: </a:t>
              </a:r>
              <a:r>
                <a:rPr kumimoji="1" lang="en-US" altLang="zh-CN" sz="1400" dirty="0">
                  <a:latin typeface="Lucida Console" panose="020B0609040504020204" pitchFamily="49" charset="0"/>
                  <a:ea typeface="Google Sans" pitchFamily="2" charset="0"/>
                  <a:cs typeface="Google Sans" pitchFamily="2" charset="0"/>
                </a:rPr>
                <a:t>evidence_1</a:t>
              </a:r>
              <a:endParaRPr kumimoji="1" lang="zh-CN" altLang="en-US" sz="1400" dirty="0">
                <a:latin typeface="Lucida Console" panose="020B0609040504020204" pitchFamily="49" charset="0"/>
                <a:cs typeface="Google Sans" pitchFamily="2" charset="0"/>
              </a:endParaRP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A56FA96E-45DD-7756-2905-4528F74C51B0}"/>
                </a:ext>
              </a:extLst>
            </p:cNvPr>
            <p:cNvSpPr txBox="1"/>
            <p:nvPr/>
          </p:nvSpPr>
          <p:spPr>
            <a:xfrm>
              <a:off x="291481" y="3044946"/>
              <a:ext cx="12124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Skillset</a:t>
              </a:r>
              <a:endParaRPr kumimoji="1" lang="zh-CN" altLang="en-US" dirty="0">
                <a:latin typeface="Google Sans" pitchFamily="2" charset="0"/>
                <a:cs typeface="Google 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6093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A28EA9A0-E2DA-4C60-ABA3-CEC0F7880E0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61616"/>
                </a:solidFill>
                <a:latin typeface="Google Sans"/>
                <a:ea typeface="Google Sans"/>
                <a:cs typeface="Google Sans"/>
              </a:defRPr>
            </a:pPr>
            <a:r>
              <a:rPr sz="3150" b="1">
                <a:solidFill>
                  <a:srgbClr val="161616"/>
                </a:solidFill>
                <a:latin typeface="Google Sans"/>
                <a:ea typeface="Google Sans"/>
                <a:cs typeface="Google Sans"/>
              </a:rPr>
              <a:t>Request routing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1847656-38EA-480F-9760-A1382FE3A4EE}"/>
              </a:ext>
            </a:extLst>
          </p:cNvPr>
          <p:cNvSpPr>
            <a:spLocks noGrp="1"/>
          </p:cNvSpPr>
          <p:nvPr/>
        </p:nvSpPr>
        <p:spPr>
          <a:xfrm>
            <a:off x="704850" y="1381125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588FF"/>
                </a:solidFill>
                <a:latin typeface="Google Sans"/>
                <a:ea typeface="Google Sans"/>
                <a:cs typeface="Google Sans"/>
              </a:defRPr>
            </a:pPr>
            <a:r>
              <a:rPr sz="2175" b="1">
                <a:solidFill>
                  <a:srgbClr val="2588FF"/>
                </a:solidFill>
                <a:latin typeface="Google Sans"/>
                <a:ea typeface="Google Sans"/>
                <a:cs typeface="Google Sans"/>
              </a:rPr>
              <a:t>Interfaces</a:t>
            </a:r>
          </a:p>
        </p:txBody>
      </p:sp>
      <p:pic>
        <p:nvPicPr>
          <p:cNvPr id="10" name="图形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52500" y="2000467"/>
            <a:ext cx="10287000" cy="74251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AA112D3-6127-45A6-A0B5-14DF53DA6D3E}"/>
              </a:ext>
            </a:extLst>
          </p:cNvPr>
          <p:cNvSpPr>
            <a:spLocks noGrp="1"/>
          </p:cNvSpPr>
          <p:nvPr/>
        </p:nvSpPr>
        <p:spPr>
          <a:xfrm>
            <a:off x="723900" y="2914650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6717A"/>
                </a:solidFill>
                <a:latin typeface="Google Sans"/>
                <a:ea typeface="Google Sans"/>
                <a:cs typeface="Google Sans"/>
              </a:defRPr>
            </a:pPr>
            <a:r>
              <a:rPr sz="1725" b="0">
                <a:solidFill>
                  <a:srgbClr val="66717A"/>
                </a:solidFill>
                <a:latin typeface="Google Sans"/>
                <a:ea typeface="Google Sans"/>
                <a:cs typeface="Google Sans"/>
              </a:rPr>
              <a:t>Parse the operation and arguments, dispatch the request, format the result.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8EAABB-3C27-4B75-81EF-45C2128D4D3D}"/>
              </a:ext>
            </a:extLst>
          </p:cNvPr>
          <p:cNvSpPr>
            <a:spLocks noGrp="1"/>
          </p:cNvSpPr>
          <p:nvPr/>
        </p:nvSpPr>
        <p:spPr>
          <a:xfrm>
            <a:off x="704850" y="3790950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588FF"/>
                </a:solidFill>
                <a:latin typeface="Google Sans"/>
                <a:ea typeface="Google Sans"/>
                <a:cs typeface="Google Sans"/>
              </a:defRPr>
            </a:pPr>
            <a:r>
              <a:rPr sz="2175" b="1">
                <a:solidFill>
                  <a:srgbClr val="2588FF"/>
                </a:solidFill>
                <a:latin typeface="Google Sans"/>
                <a:ea typeface="Google Sans"/>
                <a:cs typeface="Google Sans"/>
              </a:rPr>
              <a:t>Application</a:t>
            </a:r>
          </a:p>
        </p:txBody>
      </p:sp>
      <p:pic>
        <p:nvPicPr>
          <p:cNvPr id="13" name="图形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2725794" y="4295775"/>
            <a:ext cx="6645161" cy="138112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F2DC476-478D-426E-B4FC-9141129BEEAE}"/>
              </a:ext>
            </a:extLst>
          </p:cNvPr>
          <p:cNvSpPr>
            <a:spLocks noGrp="1"/>
          </p:cNvSpPr>
          <p:nvPr/>
        </p:nvSpPr>
        <p:spPr>
          <a:xfrm>
            <a:off x="723900" y="6029325"/>
            <a:ext cx="10668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6717A"/>
                </a:solidFill>
                <a:latin typeface="Google Sans"/>
                <a:ea typeface="Google Sans"/>
                <a:cs typeface="Google Sans"/>
              </a:defRPr>
            </a:pPr>
            <a:r>
              <a:rPr sz="1725" b="0">
                <a:solidFill>
                  <a:srgbClr val="66717A"/>
                </a:solidFill>
                <a:latin typeface="Google Sans"/>
                <a:ea typeface="Google Sans"/>
                <a:cs typeface="Google Sans"/>
              </a:rPr>
              <a:t>Search returns documents. RAG receives search and collection callbacks.</a:t>
            </a:r>
          </a:p>
        </p:txBody>
      </p:sp>
    </p:spTree>
    <p:extLst>
      <p:ext uri="{BB962C8B-B14F-4D97-AF65-F5344CB8AC3E}">
        <p14:creationId xmlns:p14="http://schemas.microsoft.com/office/powerpoint/2010/main" val="1246316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2FF45F3E-C654-4509-8428-536A79DDABB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61616"/>
                </a:solidFill>
                <a:latin typeface="Google Sans"/>
                <a:ea typeface="Google Sans"/>
                <a:cs typeface="Google Sans"/>
              </a:defRPr>
            </a:pPr>
            <a:r>
              <a:rPr sz="3150" b="1">
                <a:solidFill>
                  <a:srgbClr val="161616"/>
                </a:solidFill>
                <a:latin typeface="Google Sans"/>
                <a:ea typeface="Google Sans"/>
                <a:cs typeface="Google Sans"/>
              </a:rPr>
              <a:t>Data preparation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7A6C575-BC33-4166-847D-35A1748BB8CC}"/>
              </a:ext>
            </a:extLst>
          </p:cNvPr>
          <p:cNvSpPr>
            <a:spLocks noGrp="1"/>
          </p:cNvSpPr>
          <p:nvPr/>
        </p:nvSpPr>
        <p:spPr>
          <a:xfrm>
            <a:off x="704850" y="1266825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588FF"/>
                </a:solidFill>
                <a:latin typeface="Google Sans"/>
                <a:ea typeface="Google Sans"/>
                <a:cs typeface="Google Sans"/>
              </a:defRPr>
            </a:pPr>
            <a:r>
              <a:rPr sz="2175" b="1">
                <a:solidFill>
                  <a:srgbClr val="2588FF"/>
                </a:solidFill>
                <a:latin typeface="Google Sans"/>
                <a:ea typeface="Google Sans"/>
                <a:cs typeface="Google Sans"/>
              </a:rPr>
              <a:t>Ingestion</a:t>
            </a:r>
          </a:p>
        </p:txBody>
      </p:sp>
      <p:pic>
        <p:nvPicPr>
          <p:cNvPr id="10" name="图形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2560332" y="1724025"/>
            <a:ext cx="7071336" cy="154305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26AF960-54B7-4E49-89C0-086FC97D69F6}"/>
              </a:ext>
            </a:extLst>
          </p:cNvPr>
          <p:cNvSpPr>
            <a:spLocks noGrp="1"/>
          </p:cNvSpPr>
          <p:nvPr/>
        </p:nvSpPr>
        <p:spPr>
          <a:xfrm>
            <a:off x="723900" y="3343275"/>
            <a:ext cx="1076325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17A"/>
                </a:solidFill>
                <a:latin typeface="Google Sans"/>
                <a:ea typeface="Google Sans"/>
                <a:cs typeface="Google Sans"/>
              </a:defRPr>
            </a:pPr>
            <a:r>
              <a:rPr sz="1650" b="0">
                <a:solidFill>
                  <a:srgbClr val="66717A"/>
                </a:solidFill>
                <a:latin typeface="Google Sans"/>
                <a:ea typeface="Google Sans"/>
                <a:cs typeface="Google Sans"/>
              </a:rPr>
              <a:t>Q: persistent crawl queue     H: downloaded HTML     D: document corpus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14D065F-646B-494F-BE14-1953C239897B}"/>
              </a:ext>
            </a:extLst>
          </p:cNvPr>
          <p:cNvSpPr>
            <a:spLocks noGrp="1"/>
          </p:cNvSpPr>
          <p:nvPr/>
        </p:nvSpPr>
        <p:spPr>
          <a:xfrm>
            <a:off x="704850" y="4010025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588FF"/>
                </a:solidFill>
                <a:latin typeface="Google Sans"/>
                <a:ea typeface="Google Sans"/>
                <a:cs typeface="Google Sans"/>
              </a:defRPr>
            </a:pPr>
            <a:r>
              <a:rPr sz="2175" b="1">
                <a:solidFill>
                  <a:srgbClr val="2588FF"/>
                </a:solidFill>
                <a:latin typeface="Google Sans"/>
                <a:ea typeface="Google Sans"/>
                <a:cs typeface="Google Sans"/>
              </a:rPr>
              <a:t>Infrastructure</a:t>
            </a:r>
          </a:p>
        </p:txBody>
      </p:sp>
      <p:pic>
        <p:nvPicPr>
          <p:cNvPr id="13" name="图形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2280631" y="4476750"/>
            <a:ext cx="7535489" cy="117157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90AC73A-2168-46B8-B8F4-633601BD5442}"/>
              </a:ext>
            </a:extLst>
          </p:cNvPr>
          <p:cNvSpPr>
            <a:spLocks noGrp="1"/>
          </p:cNvSpPr>
          <p:nvPr/>
        </p:nvSpPr>
        <p:spPr>
          <a:xfrm>
            <a:off x="723900" y="596265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17A"/>
                </a:solidFill>
                <a:latin typeface="Google Sans"/>
                <a:ea typeface="Google Sans"/>
                <a:cs typeface="Google Sans"/>
              </a:defRPr>
            </a:pPr>
            <a:r>
              <a:rPr sz="1650" b="0">
                <a:solidFill>
                  <a:srgbClr val="66717A"/>
                </a:solidFill>
                <a:latin typeface="Google Sans"/>
                <a:ea typeface="Google Sans"/>
                <a:cs typeface="Google Sans"/>
              </a:rPr>
              <a:t>Normalize and tokenize text. Read and write document, queue and index records.</a:t>
            </a:r>
          </a:p>
        </p:txBody>
      </p:sp>
    </p:spTree>
    <p:extLst>
      <p:ext uri="{BB962C8B-B14F-4D97-AF65-F5344CB8AC3E}">
        <p14:creationId xmlns:p14="http://schemas.microsoft.com/office/powerpoint/2010/main" val="2054785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43AEBCE7-EF76-48BB-80A6-6ECCE4E7B6F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61616"/>
                </a:solidFill>
                <a:latin typeface="Google Sans"/>
                <a:ea typeface="Google Sans"/>
                <a:cs typeface="Google Sans"/>
              </a:defRPr>
            </a:pPr>
            <a:r>
              <a:rPr sz="3150" b="1">
                <a:solidFill>
                  <a:srgbClr val="161616"/>
                </a:solidFill>
                <a:latin typeface="Google Sans"/>
                <a:ea typeface="Google Sans"/>
                <a:cs typeface="Google Sans"/>
              </a:rPr>
              <a:t>Retrieval and evaluation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0C9DC72-9781-4B86-B872-EF592807A58E}"/>
              </a:ext>
            </a:extLst>
          </p:cNvPr>
          <p:cNvSpPr>
            <a:spLocks noGrp="1"/>
          </p:cNvSpPr>
          <p:nvPr/>
        </p:nvSpPr>
        <p:spPr>
          <a:xfrm>
            <a:off x="704850" y="1238250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588FF"/>
                </a:solidFill>
                <a:latin typeface="Google Sans"/>
                <a:ea typeface="Google Sans"/>
                <a:cs typeface="Google Sans"/>
              </a:defRPr>
            </a:pPr>
            <a:r>
              <a:rPr sz="2175" b="1">
                <a:solidFill>
                  <a:srgbClr val="2588FF"/>
                </a:solidFill>
                <a:latin typeface="Google Sans"/>
                <a:ea typeface="Google Sans"/>
                <a:cs typeface="Google Sans"/>
              </a:rPr>
              <a:t>Retrieval</a:t>
            </a:r>
          </a:p>
        </p:txBody>
      </p:sp>
      <p:pic>
        <p:nvPicPr>
          <p:cNvPr id="10" name="图形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2359523" y="1685925"/>
            <a:ext cx="7472955" cy="223837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4410A9C-FECF-46D0-A6FA-FD9D8A81B1C0}"/>
              </a:ext>
            </a:extLst>
          </p:cNvPr>
          <p:cNvSpPr>
            <a:spLocks noGrp="1"/>
          </p:cNvSpPr>
          <p:nvPr/>
        </p:nvSpPr>
        <p:spPr>
          <a:xfrm>
            <a:off x="723900" y="4019550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17A"/>
                </a:solidFill>
                <a:latin typeface="Google Sans"/>
                <a:ea typeface="Google Sans"/>
                <a:cs typeface="Google Sans"/>
              </a:defRPr>
            </a:pPr>
            <a:r>
              <a:rPr sz="1650" b="0">
                <a:solidFill>
                  <a:srgbClr val="66717A"/>
                </a:solidFill>
                <a:latin typeface="Google Sans"/>
                <a:ea typeface="Google Sans"/>
                <a:cs typeface="Google Sans"/>
              </a:rPr>
              <a:t>Fuse by document for search and by passage for RAG, then rerank.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22BCCB-E139-4B0B-85DA-ECCD98A80602}"/>
              </a:ext>
            </a:extLst>
          </p:cNvPr>
          <p:cNvSpPr>
            <a:spLocks noGrp="1"/>
          </p:cNvSpPr>
          <p:nvPr/>
        </p:nvSpPr>
        <p:spPr>
          <a:xfrm>
            <a:off x="704850" y="4743450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588FF"/>
                </a:solidFill>
                <a:latin typeface="Google Sans"/>
                <a:ea typeface="Google Sans"/>
                <a:cs typeface="Google Sans"/>
              </a:defRPr>
            </a:pPr>
            <a:r>
              <a:rPr sz="2175" b="1">
                <a:solidFill>
                  <a:srgbClr val="2588FF"/>
                </a:solidFill>
                <a:latin typeface="Google Sans"/>
                <a:ea typeface="Google Sans"/>
                <a:cs typeface="Google Sans"/>
              </a:rPr>
              <a:t>Evaluation</a:t>
            </a:r>
          </a:p>
        </p:txBody>
      </p:sp>
      <p:pic>
        <p:nvPicPr>
          <p:cNvPr id="13" name="图形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2992329" y="5172075"/>
            <a:ext cx="6169241" cy="8763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78F1BAE-060A-4340-BEA5-165F0899308B}"/>
              </a:ext>
            </a:extLst>
          </p:cNvPr>
          <p:cNvSpPr>
            <a:spLocks noGrp="1"/>
          </p:cNvSpPr>
          <p:nvPr/>
        </p:nvSpPr>
        <p:spPr>
          <a:xfrm>
            <a:off x="723900" y="6229350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17A"/>
                </a:solidFill>
                <a:latin typeface="Google Sans"/>
                <a:ea typeface="Google Sans"/>
                <a:cs typeface="Google Sans"/>
              </a:defRPr>
            </a:pPr>
            <a:r>
              <a:rPr sz="1650" b="0">
                <a:solidFill>
                  <a:srgbClr val="66717A"/>
                </a:solidFill>
                <a:latin typeface="Google Sans"/>
                <a:ea typeface="Google Sans"/>
                <a:cs typeface="Google Sans"/>
              </a:rPr>
              <a:t>Run queries, submit results and aggregate scores with latency.</a:t>
            </a:r>
          </a:p>
        </p:txBody>
      </p:sp>
    </p:spTree>
    <p:extLst>
      <p:ext uri="{BB962C8B-B14F-4D97-AF65-F5344CB8AC3E}">
        <p14:creationId xmlns:p14="http://schemas.microsoft.com/office/powerpoint/2010/main" val="413779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B7D507E-A8E5-415A-957C-B661AEB3B3C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61616"/>
                </a:solidFill>
                <a:latin typeface="Google Sans"/>
                <a:ea typeface="Google Sans"/>
                <a:cs typeface="Google Sans"/>
              </a:defRPr>
            </a:pPr>
            <a:r>
              <a:rPr sz="3150" b="1">
                <a:solidFill>
                  <a:srgbClr val="161616"/>
                </a:solidFill>
                <a:latin typeface="Google Sans"/>
                <a:ea typeface="Google Sans"/>
                <a:cs typeface="Google Sans"/>
              </a:rPr>
              <a:t>Agentic RAG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02D1715-CC55-470A-BFD9-0D7E996FB7F2}"/>
              </a:ext>
            </a:extLst>
          </p:cNvPr>
          <p:cNvSpPr>
            <a:spLocks noGrp="1"/>
          </p:cNvSpPr>
          <p:nvPr/>
        </p:nvSpPr>
        <p:spPr>
          <a:xfrm>
            <a:off x="704850" y="1266825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588FF"/>
                </a:solidFill>
                <a:latin typeface="Google Sans"/>
                <a:ea typeface="Google Sans"/>
                <a:cs typeface="Google Sans"/>
              </a:defRPr>
            </a:pPr>
            <a:r>
              <a:rPr sz="2175" b="1">
                <a:solidFill>
                  <a:srgbClr val="2588FF"/>
                </a:solidFill>
                <a:latin typeface="Google Sans"/>
                <a:ea typeface="Google Sans"/>
                <a:cs typeface="Google Sans"/>
              </a:rPr>
              <a:t>State, tool actions and verification</a:t>
            </a:r>
          </a:p>
        </p:txBody>
      </p:sp>
      <p:pic>
        <p:nvPicPr>
          <p:cNvPr id="9" name="图形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2451986" y="1885950"/>
            <a:ext cx="7288027" cy="295275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BFD221B-B93E-458D-BE59-858F115DB2A8}"/>
              </a:ext>
            </a:extLst>
          </p:cNvPr>
          <p:cNvSpPr>
            <a:spLocks noGrp="1"/>
          </p:cNvSpPr>
          <p:nvPr/>
        </p:nvSpPr>
        <p:spPr>
          <a:xfrm>
            <a:off x="723900" y="5162550"/>
            <a:ext cx="10668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6717A"/>
                </a:solidFill>
                <a:latin typeface="Google Sans"/>
                <a:ea typeface="Google Sans"/>
                <a:cs typeface="Google Sans"/>
              </a:defRPr>
            </a:pPr>
            <a:r>
              <a:rPr sz="1800" b="0">
                <a:solidFill>
                  <a:srgbClr val="66717A"/>
                </a:solidFill>
                <a:latin typeface="Google Sans"/>
                <a:ea typeface="Google Sans"/>
                <a:cs typeface="Google Sans"/>
              </a:rPr>
              <a:t>S: queries, evidence, calculations and verification feedback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41D6B7-22B0-407E-A033-59FA92E6312C}"/>
              </a:ext>
            </a:extLst>
          </p:cNvPr>
          <p:cNvSpPr>
            <a:spLocks noGrp="1"/>
          </p:cNvSpPr>
          <p:nvPr/>
        </p:nvSpPr>
        <p:spPr>
          <a:xfrm>
            <a:off x="723900" y="5591175"/>
            <a:ext cx="10668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6717A"/>
                </a:solidFill>
                <a:latin typeface="Google Sans"/>
                <a:ea typeface="Google Sans"/>
                <a:cs typeface="Google Sans"/>
              </a:defRPr>
            </a:pPr>
            <a:r>
              <a:rPr sz="1800" b="0">
                <a:solidFill>
                  <a:srgbClr val="66717A"/>
                </a:solidFill>
                <a:latin typeface="Google Sans"/>
                <a:ea typeface="Google Sans"/>
                <a:cs typeface="Google Sans"/>
              </a:rPr>
              <a:t>Tools update the state. Verifier checks the candidate answer.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244179-211D-4408-BEAA-D8CD2CD02490}"/>
              </a:ext>
            </a:extLst>
          </p:cNvPr>
          <p:cNvSpPr>
            <a:spLocks noGrp="1"/>
          </p:cNvSpPr>
          <p:nvPr/>
        </p:nvSpPr>
        <p:spPr>
          <a:xfrm>
            <a:off x="723900" y="6067425"/>
            <a:ext cx="10668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6717A"/>
                </a:solidFill>
                <a:latin typeface="Google Sans"/>
                <a:ea typeface="Google Sans"/>
                <a:cs typeface="Google Sans"/>
              </a:defRPr>
            </a:pPr>
            <a:r>
              <a:rPr sz="1650" b="0">
                <a:solidFill>
                  <a:srgbClr val="66717A"/>
                </a:solidFill>
                <a:latin typeface="Google Sans"/>
                <a:ea typeface="Google Sans"/>
                <a:cs typeface="Google Sans"/>
              </a:rPr>
              <a:t>Up to 5 rounds and 12 model calls. The call limit terminates with an error.</a:t>
            </a:r>
          </a:p>
        </p:txBody>
      </p:sp>
    </p:spTree>
    <p:extLst>
      <p:ext uri="{BB962C8B-B14F-4D97-AF65-F5344CB8AC3E}">
        <p14:creationId xmlns:p14="http://schemas.microsoft.com/office/powerpoint/2010/main" val="1279883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4AC92FAF-B3EA-453C-9339-E7A11429DEF9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8585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50" b="1">
                <a:solidFill>
                  <a:srgbClr val="161616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3150" b="1" dirty="0">
                <a:solidFill>
                  <a:srgbClr val="161616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Complete evidence for reliable counts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D24DD6-AA7B-4E0F-95A4-FB6DA76BDB8B}"/>
              </a:ext>
            </a:extLst>
          </p:cNvPr>
          <p:cNvSpPr>
            <a:spLocks noGrp="1"/>
          </p:cNvSpPr>
          <p:nvPr/>
        </p:nvSpPr>
        <p:spPr>
          <a:xfrm>
            <a:off x="704850" y="1924050"/>
            <a:ext cx="24765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00" b="1">
                <a:solidFill>
                  <a:srgbClr val="2588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588FF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Search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66D739-ED4B-452B-BB07-1D71EA202B37}"/>
              </a:ext>
            </a:extLst>
          </p:cNvPr>
          <p:cNvSpPr>
            <a:spLocks noGrp="1"/>
          </p:cNvSpPr>
          <p:nvPr/>
        </p:nvSpPr>
        <p:spPr>
          <a:xfrm>
            <a:off x="704850" y="2352675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0">
                <a:solidFill>
                  <a:srgbClr val="66717A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1725" b="0" dirty="0">
                <a:solidFill>
                  <a:srgbClr val="66717A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Partial matches</a:t>
            </a:r>
          </a:p>
        </p:txBody>
      </p:sp>
      <p:graphicFrame>
        <p:nvGraphicFramePr>
          <p:cNvPr id="25" name="表格 24"/>
          <p:cNvGraphicFramePr/>
          <p:nvPr>
            <p:extLst>
              <p:ext uri="{D42A27DB-BD31-4B8C-83A1-F6EECF244321}">
                <p14:modId xmlns:p14="http://schemas.microsoft.com/office/powerpoint/2010/main" val="1932048982"/>
              </p:ext>
            </p:extLst>
          </p:nvPr>
        </p:nvGraphicFramePr>
        <p:xfrm>
          <a:off x="704850" y="2962275"/>
          <a:ext cx="2476500" cy="1390650"/>
        </p:xfrm>
        <a:graphic>
          <a:graphicData uri="http://schemas.openxmlformats.org/drawingml/2006/table">
            <a:tbl>
              <a:tblPr/>
              <a:tblGrid>
                <a:gridCol w="767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8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algn="ctr"/>
                      <a:r>
                        <a:rPr lang="en-US" sz="1650" b="1">
                          <a:solidFill>
                            <a:srgbClr val="FFFFFF"/>
                          </a:solidFill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ID</a:t>
                      </a:r>
                    </a:p>
                  </a:txBody>
                  <a:tcPr>
                    <a:solidFill>
                      <a:srgbClr val="258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Record</a:t>
                      </a:r>
                    </a:p>
                  </a:txBody>
                  <a:tcPr>
                    <a:solidFill>
                      <a:srgbClr val="258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61616"/>
                          </a:solidFill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3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50" b="0">
                          <a:solidFill>
                            <a:srgbClr val="161616"/>
                          </a:solidFill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C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61616"/>
                          </a:solidFill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4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50" b="0" dirty="0">
                          <a:solidFill>
                            <a:srgbClr val="161616"/>
                          </a:solidFill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D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76197B11-756E-4C92-9B09-0E68D4F240FA}"/>
              </a:ext>
            </a:extLst>
          </p:cNvPr>
          <p:cNvSpPr>
            <a:spLocks noGrp="1"/>
          </p:cNvSpPr>
          <p:nvPr/>
        </p:nvSpPr>
        <p:spPr>
          <a:xfrm>
            <a:off x="704850" y="4572000"/>
            <a:ext cx="2619375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0">
                <a:solidFill>
                  <a:srgbClr val="66717A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1725" b="0" dirty="0">
                <a:solidFill>
                  <a:srgbClr val="66717A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Relevant, but incomplete</a:t>
            </a:r>
          </a:p>
        </p:txBody>
      </p:sp>
      <p:sp>
        <p:nvSpPr>
          <p:cNvPr id="7" name="右箭头 6">
            <a:extLst>
              <a:ext uri="{FF2B5EF4-FFF2-40B4-BE49-F238E27FC236}">
                <a16:creationId xmlns:a16="http://schemas.microsoft.com/office/drawing/2014/main" id="{B37C1CC6-979D-4AE6-88E0-449F9C97402D}"/>
              </a:ext>
            </a:extLst>
          </p:cNvPr>
          <p:cNvSpPr>
            <a:spLocks noGrp="1"/>
          </p:cNvSpPr>
          <p:nvPr/>
        </p:nvSpPr>
        <p:spPr>
          <a:xfrm>
            <a:off x="3448050" y="3448050"/>
            <a:ext cx="523875" cy="171450"/>
          </a:xfrm>
          <a:prstGeom prst="rightArrow">
            <a:avLst/>
          </a:prstGeom>
          <a:solidFill>
            <a:srgbClr val="66717A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C2CAE81-AA43-4E02-897A-734401BD42D1}"/>
              </a:ext>
            </a:extLst>
          </p:cNvPr>
          <p:cNvSpPr>
            <a:spLocks noGrp="1"/>
          </p:cNvSpPr>
          <p:nvPr/>
        </p:nvSpPr>
        <p:spPr>
          <a:xfrm>
            <a:off x="4324350" y="1924050"/>
            <a:ext cx="309562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00" b="1">
                <a:solidFill>
                  <a:srgbClr val="ED7130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ED7130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Collection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50F4080-9649-48D8-BEFA-C74323BF025F}"/>
              </a:ext>
            </a:extLst>
          </p:cNvPr>
          <p:cNvSpPr>
            <a:spLocks noGrp="1"/>
          </p:cNvSpPr>
          <p:nvPr/>
        </p:nvSpPr>
        <p:spPr>
          <a:xfrm>
            <a:off x="4324350" y="2352675"/>
            <a:ext cx="30956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0">
                <a:solidFill>
                  <a:srgbClr val="66717A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1725" b="0">
                <a:solidFill>
                  <a:srgbClr val="66717A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Recover the full table</a:t>
            </a:r>
          </a:p>
        </p:txBody>
      </p:sp>
      <p:graphicFrame>
        <p:nvGraphicFramePr>
          <p:cNvPr id="30" name="表格 29"/>
          <p:cNvGraphicFramePr/>
          <p:nvPr>
            <p:extLst>
              <p:ext uri="{D42A27DB-BD31-4B8C-83A1-F6EECF244321}">
                <p14:modId xmlns:p14="http://schemas.microsoft.com/office/powerpoint/2010/main" val="2863910700"/>
              </p:ext>
            </p:extLst>
          </p:nvPr>
        </p:nvGraphicFramePr>
        <p:xfrm>
          <a:off x="4324350" y="2838450"/>
          <a:ext cx="2905125" cy="2419350"/>
        </p:xfrm>
        <a:graphic>
          <a:graphicData uri="http://schemas.openxmlformats.org/drawingml/2006/table">
            <a:tbl>
              <a:tblPr/>
              <a:tblGrid>
                <a:gridCol w="9005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4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225">
                <a:tc>
                  <a:txBody>
                    <a:bodyPr/>
                    <a:lstStyle/>
                    <a:p>
                      <a:pPr algn="ctr"/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ID</a:t>
                      </a:r>
                    </a:p>
                  </a:txBody>
                  <a:tcPr>
                    <a:solidFill>
                      <a:srgbClr val="ED71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50" b="1">
                          <a:solidFill>
                            <a:srgbClr val="FFFFFF"/>
                          </a:solidFill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Record</a:t>
                      </a:r>
                    </a:p>
                  </a:txBody>
                  <a:tcPr>
                    <a:solidFill>
                      <a:srgbClr val="ED7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61616"/>
                          </a:solidFill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1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50" b="0">
                          <a:solidFill>
                            <a:srgbClr val="161616"/>
                          </a:solidFill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A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61616"/>
                          </a:solidFill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2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50" b="0" dirty="0">
                          <a:solidFill>
                            <a:srgbClr val="161616"/>
                          </a:solidFill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B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61616"/>
                          </a:solidFill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3</a:t>
                      </a:r>
                    </a:p>
                  </a:txBody>
                  <a:tcPr>
                    <a:solidFill>
                      <a:srgbClr val="FFF0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50" b="0">
                          <a:solidFill>
                            <a:srgbClr val="161616"/>
                          </a:solidFill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C</a:t>
                      </a:r>
                    </a:p>
                  </a:txBody>
                  <a:tcPr>
                    <a:solidFill>
                      <a:srgbClr val="FFF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61616"/>
                          </a:solidFill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4</a:t>
                      </a:r>
                    </a:p>
                  </a:txBody>
                  <a:tcPr>
                    <a:solidFill>
                      <a:srgbClr val="FFF0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50" b="0">
                          <a:solidFill>
                            <a:srgbClr val="161616"/>
                          </a:solidFill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D</a:t>
                      </a:r>
                    </a:p>
                  </a:txBody>
                  <a:tcPr>
                    <a:solidFill>
                      <a:srgbClr val="FFF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61616"/>
                          </a:solidFill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5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50" b="0" dirty="0">
                          <a:solidFill>
                            <a:srgbClr val="161616"/>
                          </a:solidFill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E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右箭头 10">
            <a:extLst>
              <a:ext uri="{FF2B5EF4-FFF2-40B4-BE49-F238E27FC236}">
                <a16:creationId xmlns:a16="http://schemas.microsoft.com/office/drawing/2014/main" id="{A37DE4C1-8B66-4518-9ED4-E3C83B48E0F4}"/>
              </a:ext>
            </a:extLst>
          </p:cNvPr>
          <p:cNvSpPr>
            <a:spLocks noGrp="1"/>
          </p:cNvSpPr>
          <p:nvPr/>
        </p:nvSpPr>
        <p:spPr>
          <a:xfrm>
            <a:off x="7581900" y="3448050"/>
            <a:ext cx="523875" cy="171450"/>
          </a:xfrm>
          <a:prstGeom prst="rightArrow">
            <a:avLst/>
          </a:prstGeom>
          <a:solidFill>
            <a:srgbClr val="66717A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BA1D25A-7DD6-49C9-AFBD-F4210D626EBC}"/>
              </a:ext>
            </a:extLst>
          </p:cNvPr>
          <p:cNvSpPr>
            <a:spLocks noGrp="1"/>
          </p:cNvSpPr>
          <p:nvPr/>
        </p:nvSpPr>
        <p:spPr>
          <a:xfrm>
            <a:off x="8486775" y="1924050"/>
            <a:ext cx="280987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00" b="1">
                <a:solidFill>
                  <a:srgbClr val="00B050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B050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Calculate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9E86FE4-D978-4DC5-A986-1D023697D4A9}"/>
              </a:ext>
            </a:extLst>
          </p:cNvPr>
          <p:cNvSpPr>
            <a:spLocks noGrp="1"/>
          </p:cNvSpPr>
          <p:nvPr/>
        </p:nvSpPr>
        <p:spPr>
          <a:xfrm>
            <a:off x="8486775" y="2352675"/>
            <a:ext cx="280987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0">
                <a:solidFill>
                  <a:srgbClr val="66717A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1725" b="0">
                <a:solidFill>
                  <a:srgbClr val="66717A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Deterministic counting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E414C2A-2C31-429C-9DF9-8F52712CBBAB}"/>
              </a:ext>
            </a:extLst>
          </p:cNvPr>
          <p:cNvSpPr>
            <a:spLocks noGrp="1"/>
          </p:cNvSpPr>
          <p:nvPr/>
        </p:nvSpPr>
        <p:spPr>
          <a:xfrm>
            <a:off x="8853065" y="2986087"/>
            <a:ext cx="1857375" cy="1162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7500" b="1">
                <a:solidFill>
                  <a:srgbClr val="00B050"/>
                </a:solidFill>
                <a:latin typeface="PingFang SC"/>
                <a:ea typeface="PingFang SC"/>
                <a:cs typeface="PingFang SC"/>
              </a:defRPr>
            </a:pPr>
            <a:r>
              <a:rPr sz="7500" b="1" dirty="0">
                <a:solidFill>
                  <a:srgbClr val="00B050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5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B4FE4C1-8B96-4113-92F2-66A55A236AF3}"/>
              </a:ext>
            </a:extLst>
          </p:cNvPr>
          <p:cNvSpPr>
            <a:spLocks noGrp="1"/>
          </p:cNvSpPr>
          <p:nvPr/>
        </p:nvSpPr>
        <p:spPr>
          <a:xfrm>
            <a:off x="9525000" y="3543300"/>
            <a:ext cx="17907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61616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2100" b="0">
                <a:solidFill>
                  <a:srgbClr val="161616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records</a:t>
            </a:r>
          </a:p>
        </p:txBody>
      </p:sp>
      <p:sp>
        <p:nvSpPr>
          <p:cNvPr id="16" name="直线连接符 15">
            <a:extLst>
              <a:ext uri="{FF2B5EF4-FFF2-40B4-BE49-F238E27FC236}">
                <a16:creationId xmlns:a16="http://schemas.microsoft.com/office/drawing/2014/main" id="{669DAA00-A5C9-406A-B469-506BF55B6E2D}"/>
              </a:ext>
            </a:extLst>
          </p:cNvPr>
          <p:cNvSpPr>
            <a:spLocks noGrp="1"/>
          </p:cNvSpPr>
          <p:nvPr/>
        </p:nvSpPr>
        <p:spPr>
          <a:xfrm>
            <a:off x="8505825" y="4305300"/>
            <a:ext cx="2724150" cy="0"/>
          </a:xfrm>
          <a:prstGeom prst="line">
            <a:avLst/>
          </a:prstGeom>
          <a:noFill/>
          <a:ln w="19050">
            <a:solidFill>
              <a:srgbClr val="00B050"/>
            </a:solidFill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7537CE6-3003-4BBE-ACBC-D34BBDA430A6}"/>
              </a:ext>
            </a:extLst>
          </p:cNvPr>
          <p:cNvSpPr>
            <a:spLocks noGrp="1"/>
          </p:cNvSpPr>
          <p:nvPr/>
        </p:nvSpPr>
        <p:spPr>
          <a:xfrm>
            <a:off x="8486775" y="4457700"/>
            <a:ext cx="295275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0">
                <a:solidFill>
                  <a:srgbClr val="66717A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1650" b="0">
                <a:solidFill>
                  <a:srgbClr val="66717A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Source: evidence_T1</a:t>
            </a:r>
          </a:p>
        </p:txBody>
      </p:sp>
    </p:spTree>
    <p:extLst>
      <p:ext uri="{BB962C8B-B14F-4D97-AF65-F5344CB8AC3E}">
        <p14:creationId xmlns:p14="http://schemas.microsoft.com/office/powerpoint/2010/main" val="854958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02BF2681-3F86-4EB2-B3F7-17CE9EE393AD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8585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50" b="1">
                <a:solidFill>
                  <a:srgbClr val="161616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3150" b="1">
                <a:solidFill>
                  <a:srgbClr val="161616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Hybrid retrieval improves ranking</a:t>
            </a:r>
          </a:p>
        </p:txBody>
      </p:sp>
      <p:graphicFrame>
        <p:nvGraphicFramePr>
          <p:cNvPr id="16" name="Chart"/>
          <p:cNvGraphicFramePr/>
          <p:nvPr>
            <p:extLst>
              <p:ext uri="{D42A27DB-BD31-4B8C-83A1-F6EECF244321}">
                <p14:modId xmlns:p14="http://schemas.microsoft.com/office/powerpoint/2010/main" val="3382963399"/>
              </p:ext>
            </p:extLst>
          </p:nvPr>
        </p:nvGraphicFramePr>
        <p:xfrm>
          <a:off x="590550" y="1819275"/>
          <a:ext cx="6896100" cy="3733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4D5F6483-661C-4CB6-B302-29C8910055D4}"/>
              </a:ext>
            </a:extLst>
          </p:cNvPr>
          <p:cNvSpPr>
            <a:spLocks noGrp="1"/>
          </p:cNvSpPr>
          <p:nvPr/>
        </p:nvSpPr>
        <p:spPr>
          <a:xfrm>
            <a:off x="800100" y="1657350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66717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17A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MRR@20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09FFFF-4922-4BC9-B59B-6751C84F21CC}"/>
              </a:ext>
            </a:extLst>
          </p:cNvPr>
          <p:cNvSpPr>
            <a:spLocks noGrp="1"/>
          </p:cNvSpPr>
          <p:nvPr/>
        </p:nvSpPr>
        <p:spPr>
          <a:xfrm>
            <a:off x="8020050" y="2000250"/>
            <a:ext cx="3476625" cy="1028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6150" b="1">
                <a:solidFill>
                  <a:srgbClr val="00B050"/>
                </a:solidFill>
                <a:latin typeface="PingFang SC"/>
                <a:ea typeface="PingFang SC"/>
                <a:cs typeface="PingFang SC"/>
              </a:defRPr>
            </a:pPr>
            <a:r>
              <a:rPr sz="6150" b="1">
                <a:solidFill>
                  <a:srgbClr val="00B050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+6.9%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7AF907C-7A45-43E6-A042-F9EEAE92D384}"/>
              </a:ext>
            </a:extLst>
          </p:cNvPr>
          <p:cNvSpPr>
            <a:spLocks noGrp="1"/>
          </p:cNvSpPr>
          <p:nvPr/>
        </p:nvSpPr>
        <p:spPr>
          <a:xfrm>
            <a:off x="8105775" y="3124200"/>
            <a:ext cx="32861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2025" b="0">
                <a:solidFill>
                  <a:srgbClr val="161616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Relative MRR@20 gain</a:t>
            </a:r>
          </a:p>
        </p:txBody>
      </p:sp>
      <p:sp>
        <p:nvSpPr>
          <p:cNvPr id="7" name="直线连接符 6">
            <a:extLst>
              <a:ext uri="{FF2B5EF4-FFF2-40B4-BE49-F238E27FC236}">
                <a16:creationId xmlns:a16="http://schemas.microsoft.com/office/drawing/2014/main" id="{008737DE-B4A9-4909-A8FE-D2A10F3D1EC5}"/>
              </a:ext>
            </a:extLst>
          </p:cNvPr>
          <p:cNvSpPr>
            <a:spLocks noGrp="1"/>
          </p:cNvSpPr>
          <p:nvPr/>
        </p:nvSpPr>
        <p:spPr>
          <a:xfrm>
            <a:off x="8115300" y="3743325"/>
            <a:ext cx="3238500" cy="0"/>
          </a:xfrm>
          <a:prstGeom prst="line">
            <a:avLst/>
          </a:prstGeom>
          <a:noFill/>
          <a:ln w="9525">
            <a:solidFill>
              <a:srgbClr val="D9E0E5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00240A-173B-475A-A72A-ED1A17371DDA}"/>
              </a:ext>
            </a:extLst>
          </p:cNvPr>
          <p:cNvSpPr>
            <a:spLocks noGrp="1"/>
          </p:cNvSpPr>
          <p:nvPr/>
        </p:nvSpPr>
        <p:spPr>
          <a:xfrm>
            <a:off x="8115300" y="3990975"/>
            <a:ext cx="3048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61616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61616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25 → 26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CE2EC29-E1B5-4DB7-B841-D6E083005FC5}"/>
              </a:ext>
            </a:extLst>
          </p:cNvPr>
          <p:cNvSpPr>
            <a:spLocks noGrp="1"/>
          </p:cNvSpPr>
          <p:nvPr/>
        </p:nvSpPr>
        <p:spPr>
          <a:xfrm>
            <a:off x="8115300" y="4543425"/>
            <a:ext cx="30480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0">
                <a:solidFill>
                  <a:srgbClr val="66717A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1650" b="0">
                <a:solidFill>
                  <a:srgbClr val="66717A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Top-1 hits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0AE3C7-1228-4B62-B7EE-B7754181F6A6}"/>
              </a:ext>
            </a:extLst>
          </p:cNvPr>
          <p:cNvSpPr>
            <a:spLocks noGrp="1"/>
          </p:cNvSpPr>
          <p:nvPr/>
        </p:nvSpPr>
        <p:spPr>
          <a:xfrm>
            <a:off x="8115300" y="5133975"/>
            <a:ext cx="3238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0">
                <a:solidFill>
                  <a:srgbClr val="66717A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1650" b="0">
                <a:solidFill>
                  <a:srgbClr val="66717A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Recall@20 stays at 0.7361</a:t>
            </a:r>
          </a:p>
        </p:txBody>
      </p:sp>
    </p:spTree>
    <p:extLst>
      <p:ext uri="{BB962C8B-B14F-4D97-AF65-F5344CB8AC3E}">
        <p14:creationId xmlns:p14="http://schemas.microsoft.com/office/powerpoint/2010/main" val="1220296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7035A89A-50C3-4D3C-847A-7D02C40A393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8585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50" b="1">
                <a:solidFill>
                  <a:srgbClr val="161616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3150" b="1" dirty="0">
                <a:solidFill>
                  <a:srgbClr val="161616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One interface for search and questions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rcRect t="13224" b="13224"/>
          <a:stretch>
            <a:fillRect/>
          </a:stretch>
        </p:blipFill>
        <p:spPr>
          <a:xfrm>
            <a:off x="609600" y="2000250"/>
            <a:ext cx="7781925" cy="330517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46E6503-260A-4CCE-B4FB-C1C5CDC6F7B1}"/>
              </a:ext>
            </a:extLst>
          </p:cNvPr>
          <p:cNvSpPr>
            <a:spLocks noGrp="1"/>
          </p:cNvSpPr>
          <p:nvPr/>
        </p:nvSpPr>
        <p:spPr>
          <a:xfrm>
            <a:off x="8867775" y="2057400"/>
            <a:ext cx="8572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2588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588FF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8D991C-5D58-4F62-8DCF-DA6E93072DAD}"/>
              </a:ext>
            </a:extLst>
          </p:cNvPr>
          <p:cNvSpPr>
            <a:spLocks noGrp="1"/>
          </p:cNvSpPr>
          <p:nvPr/>
        </p:nvSpPr>
        <p:spPr>
          <a:xfrm>
            <a:off x="9486900" y="2085975"/>
            <a:ext cx="21431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161616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1800" b="1">
                <a:solidFill>
                  <a:srgbClr val="161616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Ask a question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BBA0247-D9AB-4A50-8697-E7B66A9DA57E}"/>
              </a:ext>
            </a:extLst>
          </p:cNvPr>
          <p:cNvSpPr>
            <a:spLocks noGrp="1"/>
          </p:cNvSpPr>
          <p:nvPr/>
        </p:nvSpPr>
        <p:spPr>
          <a:xfrm>
            <a:off x="8886825" y="2590800"/>
            <a:ext cx="266700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0">
                <a:solidFill>
                  <a:srgbClr val="66717A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1725" b="0">
                <a:solidFill>
                  <a:srgbClr val="66717A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Policies and notices</a:t>
            </a:r>
          </a:p>
        </p:txBody>
      </p:sp>
      <p:sp>
        <p:nvSpPr>
          <p:cNvPr id="7" name="直线连接符 6">
            <a:extLst>
              <a:ext uri="{FF2B5EF4-FFF2-40B4-BE49-F238E27FC236}">
                <a16:creationId xmlns:a16="http://schemas.microsoft.com/office/drawing/2014/main" id="{CA0B3775-1175-4872-8CBF-7ECE4678CD23}"/>
              </a:ext>
            </a:extLst>
          </p:cNvPr>
          <p:cNvSpPr>
            <a:spLocks noGrp="1"/>
          </p:cNvSpPr>
          <p:nvPr/>
        </p:nvSpPr>
        <p:spPr>
          <a:xfrm>
            <a:off x="8886825" y="3381375"/>
            <a:ext cx="2638425" cy="0"/>
          </a:xfrm>
          <a:prstGeom prst="line">
            <a:avLst/>
          </a:prstGeom>
          <a:noFill/>
          <a:ln w="9525">
            <a:solidFill>
              <a:srgbClr val="D9E0E5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AAE97C-E06D-47B8-87AD-328EE170F965}"/>
              </a:ext>
            </a:extLst>
          </p:cNvPr>
          <p:cNvSpPr>
            <a:spLocks noGrp="1"/>
          </p:cNvSpPr>
          <p:nvPr/>
        </p:nvSpPr>
        <p:spPr>
          <a:xfrm>
            <a:off x="8867775" y="3724275"/>
            <a:ext cx="8572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00B05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0B050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02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AB7CCEE-0392-42BF-943C-76FCE3DF8AE9}"/>
              </a:ext>
            </a:extLst>
          </p:cNvPr>
          <p:cNvSpPr>
            <a:spLocks noGrp="1"/>
          </p:cNvSpPr>
          <p:nvPr/>
        </p:nvSpPr>
        <p:spPr>
          <a:xfrm>
            <a:off x="9486900" y="3752850"/>
            <a:ext cx="21431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1">
                <a:solidFill>
                  <a:srgbClr val="161616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1800" b="1">
                <a:solidFill>
                  <a:srgbClr val="161616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Check sources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0FC5096-F74C-4E80-AF7A-F468F7CBAEDA}"/>
              </a:ext>
            </a:extLst>
          </p:cNvPr>
          <p:cNvSpPr>
            <a:spLocks noGrp="1"/>
          </p:cNvSpPr>
          <p:nvPr/>
        </p:nvSpPr>
        <p:spPr>
          <a:xfrm>
            <a:off x="8886825" y="4257675"/>
            <a:ext cx="2695575" cy="790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0">
                <a:solidFill>
                  <a:srgbClr val="66717A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1725" b="0">
                <a:solidFill>
                  <a:srgbClr val="66717A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Review source pages</a:t>
            </a:r>
          </a:p>
          <a:p>
            <a:pPr algn="l">
              <a:defRPr sz="1725" b="0">
                <a:solidFill>
                  <a:srgbClr val="66717A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1725" b="0">
                <a:solidFill>
                  <a:srgbClr val="66717A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and evidence support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E66F89A-C99C-4F6D-B288-783D5F8B5F5A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69151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1">
                <a:solidFill>
                  <a:srgbClr val="161616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2175" b="1" dirty="0">
                <a:solidFill>
                  <a:srgbClr val="161616"/>
                </a:solidFill>
                <a:latin typeface="Lucida Console" panose="020B0609040504020204" pitchFamily="49" charset="0"/>
                <a:ea typeface="Google Sans" pitchFamily="2" charset="0"/>
                <a:cs typeface="Google Sans" pitchFamily="2" charset="0"/>
              </a:rPr>
              <a:t>&gt; </a:t>
            </a:r>
            <a:r>
              <a:rPr lang="zh-CN" altLang="en-US" sz="2175" b="1" dirty="0">
                <a:solidFill>
                  <a:srgbClr val="161616"/>
                </a:solidFill>
                <a:latin typeface="Lucida Console" panose="020B0609040504020204" pitchFamily="49" charset="0"/>
                <a:ea typeface="Google Sans" pitchFamily="2" charset="0"/>
                <a:cs typeface="Google Sans" pitchFamily="2" charset="0"/>
              </a:rPr>
              <a:t> </a:t>
            </a:r>
            <a:r>
              <a:rPr sz="2175" b="1" dirty="0" err="1">
                <a:solidFill>
                  <a:srgbClr val="161616"/>
                </a:solidFill>
                <a:latin typeface="Lucida Console" panose="020B0609040504020204" pitchFamily="49" charset="0"/>
                <a:ea typeface="Google Sans" pitchFamily="2" charset="0"/>
                <a:cs typeface="Google Sans" pitchFamily="2" charset="0"/>
              </a:rPr>
              <a:t>uv</a:t>
            </a:r>
            <a:r>
              <a:rPr sz="2175" b="1" dirty="0">
                <a:solidFill>
                  <a:srgbClr val="161616"/>
                </a:solidFill>
                <a:latin typeface="Lucida Console" panose="020B0609040504020204" pitchFamily="49" charset="0"/>
                <a:ea typeface="Google Sans" pitchFamily="2" charset="0"/>
                <a:cs typeface="Google Sans" pitchFamily="2" charset="0"/>
              </a:rPr>
              <a:t> run zeta-engine serve</a:t>
            </a:r>
          </a:p>
        </p:txBody>
      </p:sp>
    </p:spTree>
    <p:extLst>
      <p:ext uri="{BB962C8B-B14F-4D97-AF65-F5344CB8AC3E}">
        <p14:creationId xmlns:p14="http://schemas.microsoft.com/office/powerpoint/2010/main" val="1243054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759</Words>
  <Application>Microsoft Macintosh PowerPoint</Application>
  <PresentationFormat>宽屏</PresentationFormat>
  <Paragraphs>137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等线</vt:lpstr>
      <vt:lpstr>等线 Light</vt:lpstr>
      <vt:lpstr>Arial</vt:lpstr>
      <vt:lpstr>Google Sans</vt:lpstr>
      <vt:lpstr>Lucida Console</vt:lpstr>
      <vt:lpstr>Office 主题​​</vt:lpstr>
      <vt:lpstr>ChatGPT</vt:lpstr>
      <vt:lpstr>ChatGPT</vt:lpstr>
      <vt:lpstr>zeta-engine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洋铭 熊</dc:creator>
  <cp:lastModifiedBy>洋铭 熊</cp:lastModifiedBy>
  <cp:revision>10</cp:revision>
  <dcterms:created xsi:type="dcterms:W3CDTF">2026-08-30T04:40:09Z</dcterms:created>
  <dcterms:modified xsi:type="dcterms:W3CDTF">2026-09-09T11:19:58Z</dcterms:modified>
</cp:coreProperties>
</file>